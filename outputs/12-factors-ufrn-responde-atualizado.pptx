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2a315df7d4569" /><Relationship Type="http://schemas.openxmlformats.org/officeDocument/2006/relationships/extended-properties" Target="/docProps/app.xml" Id="R8c252c819aae4701" /><Relationship Type="http://schemas.openxmlformats.org/officeDocument/2006/relationships/officeDocument" Target="/ppt/presentation.xml" Id="R5290036cd26d4f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d699a22a614f03"/>
  </p:sldMasterIdLst>
  <p:notesMasterIdLst>
    <p:notesMasterId xmlns:r="http://schemas.openxmlformats.org/officeDocument/2006/relationships" r:id="Rd2d7d053de114e43"/>
  </p:notesMasterIdLst>
  <p:sldIdLst>
    <p:sldId xmlns:r="http://schemas.openxmlformats.org/officeDocument/2006/relationships" id="256" r:id="R68c4c13228e04ebb"/>
    <p:sldId xmlns:r="http://schemas.openxmlformats.org/officeDocument/2006/relationships" id="257" r:id="Rdc21b02c80b047f4"/>
    <p:sldId xmlns:r="http://schemas.openxmlformats.org/officeDocument/2006/relationships" id="258" r:id="R931467e9e6ce495c"/>
    <p:sldId xmlns:r="http://schemas.openxmlformats.org/officeDocument/2006/relationships" id="259" r:id="R4c9c1c8c58234ded"/>
    <p:sldId xmlns:r="http://schemas.openxmlformats.org/officeDocument/2006/relationships" id="260" r:id="Rf043864a5b09404e"/>
    <p:sldId xmlns:r="http://schemas.openxmlformats.org/officeDocument/2006/relationships" id="261" r:id="Rb5d5e7749d29403e"/>
    <p:sldId xmlns:r="http://schemas.openxmlformats.org/officeDocument/2006/relationships" id="262" r:id="R5d291868ef574dcb"/>
    <p:sldId xmlns:r="http://schemas.openxmlformats.org/officeDocument/2006/relationships" id="263" r:id="R7cf5eb13e56d46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db905fc9f4d1c" /><Relationship Type="http://schemas.openxmlformats.org/officeDocument/2006/relationships/slideMaster" Target="/ppt/slideMasters/slideMaster1.xml" Id="Rf3d699a22a614f03" /><Relationship Type="http://schemas.openxmlformats.org/officeDocument/2006/relationships/notesMaster" Target="/ppt/notesMasters/notesMaster1.xml" Id="Rd2d7d053de114e43" /><Relationship Type="http://schemas.openxmlformats.org/officeDocument/2006/relationships/presProps" Target="/ppt/presProps.xml" Id="R92818deffb4445be" /><Relationship Type="http://schemas.openxmlformats.org/officeDocument/2006/relationships/tableStyles" Target="/ppt/tableStyles.xml" Id="R9b1313d1deeb4f97" /><Relationship Type="http://schemas.openxmlformats.org/officeDocument/2006/relationships/slide" Target="/ppt/slides/slide1.xml" Id="R68c4c13228e04ebb" /><Relationship Type="http://schemas.openxmlformats.org/officeDocument/2006/relationships/slide" Target="/ppt/slides/slide2.xml" Id="Rdc21b02c80b047f4" /><Relationship Type="http://schemas.openxmlformats.org/officeDocument/2006/relationships/slide" Target="/ppt/slides/slide3.xml" Id="R931467e9e6ce495c" /><Relationship Type="http://schemas.openxmlformats.org/officeDocument/2006/relationships/slide" Target="/ppt/slides/slide4.xml" Id="R4c9c1c8c58234ded" /><Relationship Type="http://schemas.openxmlformats.org/officeDocument/2006/relationships/slide" Target="/ppt/slides/slide5.xml" Id="Rf043864a5b09404e" /><Relationship Type="http://schemas.openxmlformats.org/officeDocument/2006/relationships/slide" Target="/ppt/slides/slide6.xml" Id="Rb5d5e7749d29403e" /><Relationship Type="http://schemas.openxmlformats.org/officeDocument/2006/relationships/slide" Target="/ppt/slides/slide7.xml" Id="R5d291868ef574dcb" /><Relationship Type="http://schemas.openxmlformats.org/officeDocument/2006/relationships/slide" Target="/ppt/slides/slide8.xml" Id="R7cf5eb13e56d46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83f3ebd41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2c1ae001614e4d" /><Relationship Type="http://schemas.openxmlformats.org/officeDocument/2006/relationships/notesMaster" Target="/ppt/notesMasters/notesMaster1.xml" Id="Rd093ec938f3346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38d65fcee14dda" /><Relationship Type="http://schemas.openxmlformats.org/officeDocument/2006/relationships/notesMaster" Target="/ppt/notesMasters/notesMaster1.xml" Id="Rfdf9f6c38d4846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5d489601844fc0" /><Relationship Type="http://schemas.openxmlformats.org/officeDocument/2006/relationships/notesMaster" Target="/ppt/notesMasters/notesMaster1.xml" Id="R1e2b31923886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d55faf98b416b" /><Relationship Type="http://schemas.openxmlformats.org/officeDocument/2006/relationships/notesMaster" Target="/ppt/notesMasters/notesMaster1.xml" Id="R51bf3633ccfd4a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2db76231c44dc9" /><Relationship Type="http://schemas.openxmlformats.org/officeDocument/2006/relationships/notesMaster" Target="/ppt/notesMasters/notesMaster1.xml" Id="Rc3f786468b7f4a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e7078922843cb" /><Relationship Type="http://schemas.openxmlformats.org/officeDocument/2006/relationships/notesMaster" Target="/ppt/notesMasters/notesMaster1.xml" Id="R9e3250a979084a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975afa4e4e4400" /><Relationship Type="http://schemas.openxmlformats.org/officeDocument/2006/relationships/notesMaster" Target="/ppt/notesMasters/notesMaster1.xml" Id="R497b5d88755446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1372e790714c17" /><Relationship Type="http://schemas.openxmlformats.org/officeDocument/2006/relationships/notesMaster" Target="/ppt/notesMasters/notesMaster1.xml" Id="R955b9f7ad580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e3c68a73c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deb6de681347c7" /><Relationship Type="http://schemas.openxmlformats.org/officeDocument/2006/relationships/slideLayout" Target="/ppt/slideLayouts/slideLayout1.xml" Id="R7ecafff96ed4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cafff96ed4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4a55a4ded4006" /><Relationship Type="http://schemas.openxmlformats.org/officeDocument/2006/relationships/notesSlide" Target="/ppt/notesSlides/notesSlide1.xml" Id="R250707b5a006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45f57e66d4bd5" /><Relationship Type="http://schemas.openxmlformats.org/officeDocument/2006/relationships/notesSlide" Target="/ppt/notesSlides/notesSlide2.xml" Id="Re26a83cbe88749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a5cd2c0d14780" /><Relationship Type="http://schemas.openxmlformats.org/officeDocument/2006/relationships/notesSlide" Target="/ppt/notesSlides/notesSlide3.xml" Id="Re3ca8aeb4ea9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13f437e054b31" /><Relationship Type="http://schemas.openxmlformats.org/officeDocument/2006/relationships/notesSlide" Target="/ppt/notesSlides/notesSlide4.xml" Id="R86a39c3100a44c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1915c563418c" /><Relationship Type="http://schemas.openxmlformats.org/officeDocument/2006/relationships/notesSlide" Target="/ppt/notesSlides/notesSlide5.xml" Id="R74d78824f90041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7c202796342ba" /><Relationship Type="http://schemas.openxmlformats.org/officeDocument/2006/relationships/notesSlide" Target="/ppt/notesSlides/notesSlide6.xml" Id="R98c2b03309c445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efbe5d634104" /><Relationship Type="http://schemas.openxmlformats.org/officeDocument/2006/relationships/notesSlide" Target="/ppt/notesSlides/notesSlide7.xml" Id="R38f3853ab02644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1200faae343a5" /><Relationship Type="http://schemas.openxmlformats.org/officeDocument/2006/relationships/notesSlide" Target="/ppt/notesSlides/notesSlide8.xml" Id="Rf79642822e9d42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466E0A8B-6336-4EDE-9DFE-3ECFFB21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95700"/>
            <a:ext cx="12192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3EBFE31-D29D-40C6-9C53-8A400B0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UFRN Responde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A89B8E-75AA-4D7E-A902-EBE21F3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8620125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 Factors no UFRN Responde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5D7AF0-B2C4-4C55-B966-7EC0B2D0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813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Avaliação atual da aderência da arquitetura Spring Boot executada em Docker Compose.</a:t>
            </a:r>
          </a:p>
        </p:txBody>
      </p:sp>
      <p:sp>
        <p:nvSpPr>
          <p:cNvPr id="5" name="cover-square-1">
            <a:extLst xmlns:a="http://schemas.openxmlformats.org/drawingml/2006/main">
              <a:ext uri="{FF2B5EF4-FFF2-40B4-BE49-F238E27FC236}">
                <a16:creationId xmlns:a16="http://schemas.microsoft.com/office/drawing/2014/main" id="{CF15B4DF-5872-4179-9963-122D6D06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29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quare-2">
            <a:extLst xmlns:a="http://schemas.openxmlformats.org/drawingml/2006/main">
              <a:ext uri="{FF2B5EF4-FFF2-40B4-BE49-F238E27FC236}">
                <a16:creationId xmlns:a16="http://schemas.microsoft.com/office/drawing/2014/main" id="{3AA8D9B3-96F7-4999-B693-37797C1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evidence-title">
            <a:extLst xmlns:a="http://schemas.openxmlformats.org/drawingml/2006/main">
              <a:ext uri="{FF2B5EF4-FFF2-40B4-BE49-F238E27FC236}">
                <a16:creationId xmlns:a16="http://schemas.microsoft.com/office/drawing/2014/main" id="{7F63DAA7-AFEF-42AF-8FA4-06ACA74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 de evidência</a:t>
            </a:r>
          </a:p>
        </p:txBody>
      </p:sp>
      <p:sp>
        <p:nvSpPr>
          <p:cNvPr id="8" name="cover-evidence-body">
            <a:extLst xmlns:a="http://schemas.openxmlformats.org/drawingml/2006/main">
              <a:ext uri="{FF2B5EF4-FFF2-40B4-BE49-F238E27FC236}">
                <a16:creationId xmlns:a16="http://schemas.microsoft.com/office/drawing/2014/main" id="{273EB254-67F5-4354-81FF-7B664AF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compose.yml, .env.example, pom.xml, Dockerfiles, configuração central e código dos serviços.</a:t>
            </a:r>
          </a:p>
        </p:txBody>
      </p:sp>
      <p:sp>
        <p:nvSpPr>
          <p:cNvPr id="9" name="cover-takeaway-title">
            <a:extLst xmlns:a="http://schemas.openxmlformats.org/drawingml/2006/main">
              <a:ext uri="{FF2B5EF4-FFF2-40B4-BE49-F238E27FC236}">
                <a16:creationId xmlns:a16="http://schemas.microsoft.com/office/drawing/2014/main" id="{69C8FB30-9996-4C44-A1B2-D43E46B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Leitura principal</a:t>
            </a:r>
          </a:p>
        </p:txBody>
      </p:sp>
      <p:sp>
        <p:nvSpPr>
          <p:cNvPr id="10" name="cover-takeaway-body">
            <a:extLst xmlns:a="http://schemas.openxmlformats.org/drawingml/2006/main">
              <a:ext uri="{FF2B5EF4-FFF2-40B4-BE49-F238E27FC236}">
                <a16:creationId xmlns:a16="http://schemas.microsoft.com/office/drawing/2014/main" id="{5C17512A-8251-49B5-A693-22AF61F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43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Os processos Java são maduros; as lacunas ficam em release, paridade produtiva e escala dos serviços stateful.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24C2D2-ACC0-467A-9DAF-2ABD4772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6666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1C7EC54-8936-427E-9929-58775F5A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arquitetura separa processos stateless de serviços stateful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D5D12D-099F-49D3-81D7-C9BA2CD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análise usa cada processo de aplicação como unidade e trata banco, modelo, métricas e configuração como recursos anexáveis.</a:t>
            </a:r>
          </a:p>
        </p:txBody>
      </p:sp>
      <p:sp>
        <p:nvSpPr>
          <p:cNvPr id="3" name="lane-1">
            <a:extLst xmlns:a="http://schemas.openxmlformats.org/drawingml/2006/main">
              <a:ext uri="{FF2B5EF4-FFF2-40B4-BE49-F238E27FC236}">
                <a16:creationId xmlns:a16="http://schemas.microsoft.com/office/drawing/2014/main" id="{5A71891B-F40D-4015-BDF0-48F53766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429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ne-2">
            <a:extLst xmlns:a="http://schemas.openxmlformats.org/drawingml/2006/main">
              <a:ext uri="{FF2B5EF4-FFF2-40B4-BE49-F238E27FC236}">
                <a16:creationId xmlns:a16="http://schemas.microsoft.com/office/drawing/2014/main" id="{35D1606A-2BDE-4A2E-B358-6B7E542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429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ne-3">
            <a:extLst xmlns:a="http://schemas.openxmlformats.org/drawingml/2006/main">
              <a:ext uri="{FF2B5EF4-FFF2-40B4-BE49-F238E27FC236}">
                <a16:creationId xmlns:a16="http://schemas.microsoft.com/office/drawing/2014/main" id="{BD46904D-C90B-4FBE-B026-610014C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3429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ne-1-title">
            <a:extLst xmlns:a="http://schemas.openxmlformats.org/drawingml/2006/main">
              <a:ext uri="{FF2B5EF4-FFF2-40B4-BE49-F238E27FC236}">
                <a16:creationId xmlns:a16="http://schemas.microsoft.com/office/drawing/2014/main" id="{FEC5A42A-A9C2-4670-B734-72DCA9A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Entrada, configuração e descoberta</a:t>
            </a:r>
          </a:p>
        </p:txBody>
      </p:sp>
      <p:sp>
        <p:nvSpPr>
          <p:cNvPr id="7" name="lane-1-body">
            <a:extLst xmlns:a="http://schemas.openxmlformats.org/drawingml/2006/main">
              <a:ext uri="{FF2B5EF4-FFF2-40B4-BE49-F238E27FC236}">
                <a16:creationId xmlns:a16="http://schemas.microsoft.com/office/drawing/2014/main" id="{19ABE015-637D-444A-850F-397C724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HAProxy publica o gateway localmente.</a:t>
            </a:r>
          </a:p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Eureka mantém descoberta replicada.</a:t>
            </a:r>
          </a:p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 Server entrega política de runtime.</a:t>
            </a:r>
          </a:p>
        </p:txBody>
      </p:sp>
      <p:sp>
        <p:nvSpPr>
          <p:cNvPr id="8" name="lane-2-title">
            <a:extLst xmlns:a="http://schemas.openxmlformats.org/drawingml/2006/main">
              <a:ext uri="{FF2B5EF4-FFF2-40B4-BE49-F238E27FC236}">
                <a16:creationId xmlns:a16="http://schemas.microsoft.com/office/drawing/2014/main" id="{75AFBBDB-5DB9-4CF8-B4E2-2B25EC2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Serviços de aplicação</a:t>
            </a:r>
          </a:p>
        </p:txBody>
      </p:sp>
      <p:sp>
        <p:nvSpPr>
          <p:cNvPr id="9" name="lane-2-body">
            <a:extLst xmlns:a="http://schemas.openxmlformats.org/drawingml/2006/main">
              <a:ext uri="{FF2B5EF4-FFF2-40B4-BE49-F238E27FC236}">
                <a16:creationId xmlns:a16="http://schemas.microsoft.com/office/drawing/2014/main" id="{05D0424D-376D-41CD-9604-6E0123DA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81325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Gateway, Question Service, RAG, Normalizer e Regulation MCP rodam como processos substituíveis.</a:t>
            </a:r>
          </a:p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estado de negócio fica fora dos containers.</a:t>
            </a:r>
          </a:p>
        </p:txBody>
      </p:sp>
      <p:sp>
        <p:nvSpPr>
          <p:cNvPr id="10" name="lane-3-title">
            <a:extLst xmlns:a="http://schemas.openxmlformats.org/drawingml/2006/main">
              <a:ext uri="{FF2B5EF4-FFF2-40B4-BE49-F238E27FC236}">
                <a16:creationId xmlns:a16="http://schemas.microsoft.com/office/drawing/2014/main" id="{8EE36917-1098-48ED-B033-831055C6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Backing services</a:t>
            </a:r>
          </a:p>
        </p:txBody>
      </p:sp>
      <p:sp>
        <p:nvSpPr>
          <p:cNvPr id="11" name="lane-3-body">
            <a:extLst xmlns:a="http://schemas.openxmlformats.org/drawingml/2006/main">
              <a:ext uri="{FF2B5EF4-FFF2-40B4-BE49-F238E27FC236}">
                <a16:creationId xmlns:a16="http://schemas.microsoft.com/office/drawing/2014/main" id="{2F87A61C-4426-4C4B-BBFF-9BD6C7F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27622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PGVector, Ollama, Groq, Tavily, Zipkin, Prometheus, Grafana e Config Git entram por URL, credencial, DNS ou volume.</a:t>
            </a:r>
          </a:p>
        </p:txBody>
      </p:sp>
      <p:sp>
        <p:nvSpPr>
          <p:cNvPr id="12" name="context-rule">
            <a:extLst xmlns:a="http://schemas.openxmlformats.org/drawingml/2006/main">
              <a:ext uri="{FF2B5EF4-FFF2-40B4-BE49-F238E27FC236}">
                <a16:creationId xmlns:a16="http://schemas.microsoft.com/office/drawing/2014/main" id="{1DE59DA9-EE01-4A58-AC20-8A715F0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text-takeaway">
            <a:extLst xmlns:a="http://schemas.openxmlformats.org/drawingml/2006/main">
              <a:ext uri="{FF2B5EF4-FFF2-40B4-BE49-F238E27FC236}">
                <a16:creationId xmlns:a16="http://schemas.microsoft.com/office/drawing/2014/main" id="{E256C734-8523-44DD-98B5-2F995194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Conclusão: o desenho dos serviços é Twelve-Factor; os desvios concentram-se no monorepo, no release via Compose e na infraestrutura stateful local.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B2147334-957D-4D27-BF9E-A693E6F3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.env.example; config-repository/config/*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C81A9D-044F-4EFE-A369-AD78BC7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5547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7FD14AF-DC87-46BE-8D7E-092D2B3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placar continua positivo: seis fatores fortes e seis decisões pragmáticas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11C29C-71FE-4B7E-8A50-4CE0909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Réplicas, healthchecks e configuração externa fortalecem as aplicações; release, paridade e escala stateful ainda limitam a aderência.</a:t>
            </a:r>
          </a:p>
        </p:txBody>
      </p:sp>
      <p:sp>
        <p:nvSpPr>
          <p:cNvPr id="3" name="metric-1-tile">
            <a:extLst xmlns:a="http://schemas.openxmlformats.org/drawingml/2006/main">
              <a:ext uri="{FF2B5EF4-FFF2-40B4-BE49-F238E27FC236}">
                <a16:creationId xmlns:a16="http://schemas.microsoft.com/office/drawing/2014/main" id="{E47FB301-844F-4CCB-8E5A-64EF3193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1-stat">
            <a:extLst xmlns:a="http://schemas.openxmlformats.org/drawingml/2006/main">
              <a:ext uri="{FF2B5EF4-FFF2-40B4-BE49-F238E27FC236}">
                <a16:creationId xmlns:a16="http://schemas.microsoft.com/office/drawing/2014/main" id="{19C4DA7E-B6A0-43CB-8A38-3B3D5890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9BA439BB-0C22-4AF5-A991-0DAD67E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aderentes ou aderentes nas aplicações</a:t>
            </a:r>
          </a:p>
        </p:txBody>
      </p:sp>
      <p:sp>
        <p:nvSpPr>
          <p:cNvPr id="6" name="metric-2-tile">
            <a:extLst xmlns:a="http://schemas.openxmlformats.org/drawingml/2006/main">
              <a:ext uri="{FF2B5EF4-FFF2-40B4-BE49-F238E27FC236}">
                <a16:creationId xmlns:a16="http://schemas.microsoft.com/office/drawing/2014/main" id="{4ACD1B43-11D7-4B0D-979C-5235903A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2-stat">
            <a:extLst xmlns:a="http://schemas.openxmlformats.org/drawingml/2006/main">
              <a:ext uri="{FF2B5EF4-FFF2-40B4-BE49-F238E27FC236}">
                <a16:creationId xmlns:a16="http://schemas.microsoft.com/office/drawing/2014/main" id="{F21026BC-9A06-4D30-975A-AC74FC6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8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C7CE9650-5E0F-40C7-B9F4-095932C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parciais ou pragmáticos</a:t>
            </a:r>
          </a:p>
        </p:txBody>
      </p:sp>
      <p:sp>
        <p:nvSpPr>
          <p:cNvPr id="9" name="metric-3-tile">
            <a:extLst xmlns:a="http://schemas.openxmlformats.org/drawingml/2006/main">
              <a:ext uri="{FF2B5EF4-FFF2-40B4-BE49-F238E27FC236}">
                <a16:creationId xmlns:a16="http://schemas.microsoft.com/office/drawing/2014/main" id="{9B432ED4-04BC-4910-97F4-027310DE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3-stat">
            <a:extLst xmlns:a="http://schemas.openxmlformats.org/drawingml/2006/main">
              <a:ext uri="{FF2B5EF4-FFF2-40B4-BE49-F238E27FC236}">
                <a16:creationId xmlns:a16="http://schemas.microsoft.com/office/drawing/2014/main" id="{6421A6D9-433F-436D-915C-E8FF9DD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B3528071-B40A-4CD7-8ACD-A6C3DD5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quase aderente</a:t>
            </a:r>
          </a:p>
        </p:txBody>
      </p:sp>
      <p:sp>
        <p:nvSpPr>
          <p:cNvPr id="12" name="metric-4-tile">
            <a:extLst xmlns:a="http://schemas.openxmlformats.org/drawingml/2006/main">
              <a:ext uri="{FF2B5EF4-FFF2-40B4-BE49-F238E27FC236}">
                <a16:creationId xmlns:a16="http://schemas.microsoft.com/office/drawing/2014/main" id="{AF908EA1-C12D-4145-954A-9689891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4-stat">
            <a:extLst xmlns:a="http://schemas.openxmlformats.org/drawingml/2006/main">
              <a:ext uri="{FF2B5EF4-FFF2-40B4-BE49-F238E27FC236}">
                <a16:creationId xmlns:a16="http://schemas.microsoft.com/office/drawing/2014/main" id="{04756DFC-99A7-44D3-93DF-0BE1104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4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5462E8E9-B07E-4DA0-8116-958EA949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8155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bloqueios críticos para operar localmente</a:t>
            </a:r>
          </a:p>
        </p:txBody>
      </p:sp>
      <p:sp>
        <p:nvSpPr>
          <p:cNvPr id="15" name="score-rail-title">
            <a:extLst xmlns:a="http://schemas.openxmlformats.org/drawingml/2006/main">
              <a:ext uri="{FF2B5EF4-FFF2-40B4-BE49-F238E27FC236}">
                <a16:creationId xmlns:a16="http://schemas.microsoft.com/office/drawing/2014/main" id="{586A627E-43D9-456E-B597-A8574B1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Status fator a fator</a:t>
            </a:r>
          </a:p>
        </p:txBody>
      </p:sp>
      <p:sp>
        <p:nvSpPr>
          <p:cNvPr id="16" name="status-line-0">
            <a:extLst xmlns:a="http://schemas.openxmlformats.org/drawingml/2006/main">
              <a:ext uri="{FF2B5EF4-FFF2-40B4-BE49-F238E27FC236}">
                <a16:creationId xmlns:a16="http://schemas.microsoft.com/office/drawing/2014/main" id="{9835A80F-19B7-49A1-9FEE-91E0E93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tus-dot-0">
            <a:extLst xmlns:a="http://schemas.openxmlformats.org/drawingml/2006/main">
              <a:ext uri="{FF2B5EF4-FFF2-40B4-BE49-F238E27FC236}">
                <a16:creationId xmlns:a16="http://schemas.microsoft.com/office/drawing/2014/main" id="{4A915B0F-DE1B-4C3F-B543-3BB9B67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us-roman-0">
            <a:extLst xmlns:a="http://schemas.openxmlformats.org/drawingml/2006/main">
              <a:ext uri="{FF2B5EF4-FFF2-40B4-BE49-F238E27FC236}">
                <a16:creationId xmlns:a16="http://schemas.microsoft.com/office/drawing/2014/main" id="{C0B4A60E-4A2F-4355-A4A4-F26568A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</a:t>
            </a:r>
          </a:p>
        </p:txBody>
      </p:sp>
      <p:sp>
        <p:nvSpPr>
          <p:cNvPr id="19" name="status-factor-0">
            <a:extLst xmlns:a="http://schemas.openxmlformats.org/drawingml/2006/main">
              <a:ext uri="{FF2B5EF4-FFF2-40B4-BE49-F238E27FC236}">
                <a16:creationId xmlns:a16="http://schemas.microsoft.com/office/drawing/2014/main" id="{2C544700-6B98-4919-ADAB-A175000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Codebase</a:t>
            </a:r>
          </a:p>
        </p:txBody>
      </p:sp>
      <p:sp>
        <p:nvSpPr>
          <p:cNvPr id="20" name="status-label-0">
            <a:extLst xmlns:a="http://schemas.openxmlformats.org/drawingml/2006/main">
              <a:ext uri="{FF2B5EF4-FFF2-40B4-BE49-F238E27FC236}">
                <a16:creationId xmlns:a16="http://schemas.microsoft.com/office/drawing/2014/main" id="{F1DF4045-C1C3-4931-89A3-71078788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21" name="status-line-1">
            <a:extLst xmlns:a="http://schemas.openxmlformats.org/drawingml/2006/main">
              <a:ext uri="{FF2B5EF4-FFF2-40B4-BE49-F238E27FC236}">
                <a16:creationId xmlns:a16="http://schemas.microsoft.com/office/drawing/2014/main" id="{C8CFC11C-7AB3-4AA1-90DE-64A1FA96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878FE2C5-B6A1-499C-A705-65922D43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tus-roman-1">
            <a:extLst xmlns:a="http://schemas.openxmlformats.org/drawingml/2006/main">
              <a:ext uri="{FF2B5EF4-FFF2-40B4-BE49-F238E27FC236}">
                <a16:creationId xmlns:a16="http://schemas.microsoft.com/office/drawing/2014/main" id="{B7FF9E51-2201-4C3F-850F-32EE8F1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II</a:t>
            </a:r>
          </a:p>
        </p:txBody>
      </p:sp>
      <p:sp>
        <p:nvSpPr>
          <p:cNvPr id="24" name="status-factor-1">
            <a:extLst xmlns:a="http://schemas.openxmlformats.org/drawingml/2006/main">
              <a:ext uri="{FF2B5EF4-FFF2-40B4-BE49-F238E27FC236}">
                <a16:creationId xmlns:a16="http://schemas.microsoft.com/office/drawing/2014/main" id="{2D3FE1A0-770D-48B5-ABBA-0E93FF54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Dependencies</a:t>
            </a:r>
          </a:p>
        </p:txBody>
      </p:sp>
      <p:sp>
        <p:nvSpPr>
          <p:cNvPr id="25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E56F5529-4125-475E-B06F-F56A964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26" name="status-line-2">
            <a:extLst xmlns:a="http://schemas.openxmlformats.org/drawingml/2006/main">
              <a:ext uri="{FF2B5EF4-FFF2-40B4-BE49-F238E27FC236}">
                <a16:creationId xmlns:a16="http://schemas.microsoft.com/office/drawing/2014/main" id="{1B3BE7C2-8E59-4A45-B044-3EE16E41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74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00877287-B972-4EF3-8AF8-F7561671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tus-roman-2">
            <a:extLst xmlns:a="http://schemas.openxmlformats.org/drawingml/2006/main">
              <a:ext uri="{FF2B5EF4-FFF2-40B4-BE49-F238E27FC236}">
                <a16:creationId xmlns:a16="http://schemas.microsoft.com/office/drawing/2014/main" id="{BBDC5416-7643-4BF0-ACC9-71440E4B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III</a:t>
            </a:r>
          </a:p>
        </p:txBody>
      </p:sp>
      <p:sp>
        <p:nvSpPr>
          <p:cNvPr id="29" name="status-factor-2">
            <a:extLst xmlns:a="http://schemas.openxmlformats.org/drawingml/2006/main">
              <a:ext uri="{FF2B5EF4-FFF2-40B4-BE49-F238E27FC236}">
                <a16:creationId xmlns:a16="http://schemas.microsoft.com/office/drawing/2014/main" id="{55E6F938-7EDF-41F1-BE64-FEEBF74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</a:t>
            </a:r>
          </a:p>
        </p:txBody>
      </p:sp>
      <p:sp>
        <p:nvSpPr>
          <p:cNvPr id="3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DE33225-90F0-4D85-AE6B-C8592FC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A4B00"/>
                </a:solidFill>
                <a:latin typeface="Helvetica Neue"/>
                <a:ea typeface="Helvetica Neue"/>
                <a:cs typeface="Helvetica Neue"/>
              </a:defRPr>
            </a:pPr>
            <a:r>
              <a:t>Pragmático</a:t>
            </a:r>
          </a:p>
        </p:txBody>
      </p:sp>
      <p:sp>
        <p:nvSpPr>
          <p:cNvPr id="31" name="status-line-3">
            <a:extLst xmlns:a="http://schemas.openxmlformats.org/drawingml/2006/main">
              <a:ext uri="{FF2B5EF4-FFF2-40B4-BE49-F238E27FC236}">
                <a16:creationId xmlns:a16="http://schemas.microsoft.com/office/drawing/2014/main" id="{369EA139-A407-4E02-B1CA-14F0B34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1DBB5DE4-FA60-42ED-BCFD-D63E8A55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tus-roman-3">
            <a:extLst xmlns:a="http://schemas.openxmlformats.org/drawingml/2006/main">
              <a:ext uri="{FF2B5EF4-FFF2-40B4-BE49-F238E27FC236}">
                <a16:creationId xmlns:a16="http://schemas.microsoft.com/office/drawing/2014/main" id="{7BE586BF-F06D-482C-8E52-21DCAB4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IV</a:t>
            </a:r>
          </a:p>
        </p:txBody>
      </p:sp>
      <p:sp>
        <p:nvSpPr>
          <p:cNvPr id="34" name="status-factor-3">
            <a:extLst xmlns:a="http://schemas.openxmlformats.org/drawingml/2006/main">
              <a:ext uri="{FF2B5EF4-FFF2-40B4-BE49-F238E27FC236}">
                <a16:creationId xmlns:a16="http://schemas.microsoft.com/office/drawing/2014/main" id="{1680E99D-EB23-4ACA-9BA9-F7A7DB8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Backing services</a:t>
            </a:r>
          </a:p>
        </p:txBody>
      </p:sp>
      <p:sp>
        <p:nvSpPr>
          <p:cNvPr id="35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8738712B-0EDB-494D-8675-22EEA74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36" name="status-line-4">
            <a:extLst xmlns:a="http://schemas.openxmlformats.org/drawingml/2006/main">
              <a:ext uri="{FF2B5EF4-FFF2-40B4-BE49-F238E27FC236}">
                <a16:creationId xmlns:a16="http://schemas.microsoft.com/office/drawing/2014/main" id="{C121F4E7-64C0-4F95-8AA3-7E4479B4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tus-dot-4">
            <a:extLst xmlns:a="http://schemas.openxmlformats.org/drawingml/2006/main">
              <a:ext uri="{FF2B5EF4-FFF2-40B4-BE49-F238E27FC236}">
                <a16:creationId xmlns:a16="http://schemas.microsoft.com/office/drawing/2014/main" id="{109C0993-8EC9-4F95-9417-B48DA92D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tus-roman-4">
            <a:extLst xmlns:a="http://schemas.openxmlformats.org/drawingml/2006/main">
              <a:ext uri="{FF2B5EF4-FFF2-40B4-BE49-F238E27FC236}">
                <a16:creationId xmlns:a16="http://schemas.microsoft.com/office/drawing/2014/main" id="{5E030C34-F1B0-46AB-928C-695A2FC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</a:t>
            </a:r>
          </a:p>
        </p:txBody>
      </p:sp>
      <p:sp>
        <p:nvSpPr>
          <p:cNvPr id="39" name="status-factor-4">
            <a:extLst xmlns:a="http://schemas.openxmlformats.org/drawingml/2006/main">
              <a:ext uri="{FF2B5EF4-FFF2-40B4-BE49-F238E27FC236}">
                <a16:creationId xmlns:a16="http://schemas.microsoft.com/office/drawing/2014/main" id="{11F406CE-A5AE-40EE-AF30-00464EA5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Build, release, run</a:t>
            </a:r>
          </a:p>
        </p:txBody>
      </p:sp>
      <p:sp>
        <p:nvSpPr>
          <p:cNvPr id="40" name="status-label-4">
            <a:extLst xmlns:a="http://schemas.openxmlformats.org/drawingml/2006/main">
              <a:ext uri="{FF2B5EF4-FFF2-40B4-BE49-F238E27FC236}">
                <a16:creationId xmlns:a16="http://schemas.microsoft.com/office/drawing/2014/main" id="{3AFCAD0D-DDBB-4844-8293-53B6A1D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41" name="status-line-5">
            <a:extLst xmlns:a="http://schemas.openxmlformats.org/drawingml/2006/main">
              <a:ext uri="{FF2B5EF4-FFF2-40B4-BE49-F238E27FC236}">
                <a16:creationId xmlns:a16="http://schemas.microsoft.com/office/drawing/2014/main" id="{8ED5FCB5-E958-4D40-BE54-BF64F45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tatus-dot-5">
            <a:extLst xmlns:a="http://schemas.openxmlformats.org/drawingml/2006/main">
              <a:ext uri="{FF2B5EF4-FFF2-40B4-BE49-F238E27FC236}">
                <a16:creationId xmlns:a16="http://schemas.microsoft.com/office/drawing/2014/main" id="{C83F02CB-6692-434C-938F-19911F7F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tus-roman-5">
            <a:extLst xmlns:a="http://schemas.openxmlformats.org/drawingml/2006/main">
              <a:ext uri="{FF2B5EF4-FFF2-40B4-BE49-F238E27FC236}">
                <a16:creationId xmlns:a16="http://schemas.microsoft.com/office/drawing/2014/main" id="{8B6A7335-15BD-41B7-BB18-5759B5AA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VI</a:t>
            </a:r>
          </a:p>
        </p:txBody>
      </p:sp>
      <p:sp>
        <p:nvSpPr>
          <p:cNvPr id="44" name="status-factor-5">
            <a:extLst xmlns:a="http://schemas.openxmlformats.org/drawingml/2006/main">
              <a:ext uri="{FF2B5EF4-FFF2-40B4-BE49-F238E27FC236}">
                <a16:creationId xmlns:a16="http://schemas.microsoft.com/office/drawing/2014/main" id="{EF4DF5B7-2D89-44E5-989A-32A4383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Processes</a:t>
            </a:r>
          </a:p>
        </p:txBody>
      </p:sp>
      <p:sp>
        <p:nvSpPr>
          <p:cNvPr id="45" name="status-label-5">
            <a:extLst xmlns:a="http://schemas.openxmlformats.org/drawingml/2006/main">
              <a:ext uri="{FF2B5EF4-FFF2-40B4-BE49-F238E27FC236}">
                <a16:creationId xmlns:a16="http://schemas.microsoft.com/office/drawing/2014/main" id="{BA307589-D27F-4AC6-86C3-E543C4B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46" name="status-line-6">
            <a:extLst xmlns:a="http://schemas.openxmlformats.org/drawingml/2006/main">
              <a:ext uri="{FF2B5EF4-FFF2-40B4-BE49-F238E27FC236}">
                <a16:creationId xmlns:a16="http://schemas.microsoft.com/office/drawing/2014/main" id="{836C2BF9-9959-4688-B3EB-4AA5A4E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tatus-dot-6">
            <a:extLst xmlns:a="http://schemas.openxmlformats.org/drawingml/2006/main">
              <a:ext uri="{FF2B5EF4-FFF2-40B4-BE49-F238E27FC236}">
                <a16:creationId xmlns:a16="http://schemas.microsoft.com/office/drawing/2014/main" id="{D2A3D3FE-7273-404A-88B7-CB5EECE1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tus-roman-6">
            <a:extLst xmlns:a="http://schemas.openxmlformats.org/drawingml/2006/main">
              <a:ext uri="{FF2B5EF4-FFF2-40B4-BE49-F238E27FC236}">
                <a16:creationId xmlns:a16="http://schemas.microsoft.com/office/drawing/2014/main" id="{A1BFA02A-2E3A-4543-B022-FBC4F1F8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VII</a:t>
            </a:r>
          </a:p>
        </p:txBody>
      </p:sp>
      <p:sp>
        <p:nvSpPr>
          <p:cNvPr id="49" name="status-factor-6">
            <a:extLst xmlns:a="http://schemas.openxmlformats.org/drawingml/2006/main">
              <a:ext uri="{FF2B5EF4-FFF2-40B4-BE49-F238E27FC236}">
                <a16:creationId xmlns:a16="http://schemas.microsoft.com/office/drawing/2014/main" id="{E4A0FE85-3594-44D0-BB8D-D92562B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 binding</a:t>
            </a:r>
          </a:p>
        </p:txBody>
      </p:sp>
      <p:sp>
        <p:nvSpPr>
          <p:cNvPr id="50" name="status-label-6">
            <a:extLst xmlns:a="http://schemas.openxmlformats.org/drawingml/2006/main">
              <a:ext uri="{FF2B5EF4-FFF2-40B4-BE49-F238E27FC236}">
                <a16:creationId xmlns:a16="http://schemas.microsoft.com/office/drawing/2014/main" id="{EBB6D7EC-38FB-4005-A1AD-22000E9C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528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51" name="status-line-7">
            <a:extLst xmlns:a="http://schemas.openxmlformats.org/drawingml/2006/main">
              <a:ext uri="{FF2B5EF4-FFF2-40B4-BE49-F238E27FC236}">
                <a16:creationId xmlns:a16="http://schemas.microsoft.com/office/drawing/2014/main" id="{4F34FD49-4F6B-4052-9FD6-2CF3457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tatus-dot-7">
            <a:extLst xmlns:a="http://schemas.openxmlformats.org/drawingml/2006/main">
              <a:ext uri="{FF2B5EF4-FFF2-40B4-BE49-F238E27FC236}">
                <a16:creationId xmlns:a16="http://schemas.microsoft.com/office/drawing/2014/main" id="{562A5D6E-6834-45DD-A967-E8B817B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62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tus-roman-7">
            <a:extLst xmlns:a="http://schemas.openxmlformats.org/drawingml/2006/main">
              <a:ext uri="{FF2B5EF4-FFF2-40B4-BE49-F238E27FC236}">
                <a16:creationId xmlns:a16="http://schemas.microsoft.com/office/drawing/2014/main" id="{C31E4A54-E30A-40C1-8807-2051BE6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VIII</a:t>
            </a:r>
          </a:p>
        </p:txBody>
      </p:sp>
      <p:sp>
        <p:nvSpPr>
          <p:cNvPr id="54" name="status-factor-7">
            <a:extLst xmlns:a="http://schemas.openxmlformats.org/drawingml/2006/main">
              <a:ext uri="{FF2B5EF4-FFF2-40B4-BE49-F238E27FC236}">
                <a16:creationId xmlns:a16="http://schemas.microsoft.com/office/drawing/2014/main" id="{175D5DBD-B54C-4BDA-B44A-0D5030D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Concurrency</a:t>
            </a:r>
          </a:p>
        </p:txBody>
      </p:sp>
      <p:sp>
        <p:nvSpPr>
          <p:cNvPr id="55" name="status-label-7">
            <a:extLst xmlns:a="http://schemas.openxmlformats.org/drawingml/2006/main">
              <a:ext uri="{FF2B5EF4-FFF2-40B4-BE49-F238E27FC236}">
                <a16:creationId xmlns:a16="http://schemas.microsoft.com/office/drawing/2014/main" id="{4EABF8E7-91EC-4951-87F0-6C55B3E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56" name="status-line-8">
            <a:extLst xmlns:a="http://schemas.openxmlformats.org/drawingml/2006/main">
              <a:ext uri="{FF2B5EF4-FFF2-40B4-BE49-F238E27FC236}">
                <a16:creationId xmlns:a16="http://schemas.microsoft.com/office/drawing/2014/main" id="{262204DC-3E91-49D4-9DAF-E9EEBC4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tatus-dot-8">
            <a:extLst xmlns:a="http://schemas.openxmlformats.org/drawingml/2006/main">
              <a:ext uri="{FF2B5EF4-FFF2-40B4-BE49-F238E27FC236}">
                <a16:creationId xmlns:a16="http://schemas.microsoft.com/office/drawing/2014/main" id="{4B2ED30E-EB1B-4F16-A971-9126BC9F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5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tus-roman-8">
            <a:extLst xmlns:a="http://schemas.openxmlformats.org/drawingml/2006/main">
              <a:ext uri="{FF2B5EF4-FFF2-40B4-BE49-F238E27FC236}">
                <a16:creationId xmlns:a16="http://schemas.microsoft.com/office/drawing/2014/main" id="{BA897C0C-95D8-4ED4-916B-5D75548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IX</a:t>
            </a:r>
          </a:p>
        </p:txBody>
      </p:sp>
      <p:sp>
        <p:nvSpPr>
          <p:cNvPr id="59" name="status-factor-8">
            <a:extLst xmlns:a="http://schemas.openxmlformats.org/drawingml/2006/main">
              <a:ext uri="{FF2B5EF4-FFF2-40B4-BE49-F238E27FC236}">
                <a16:creationId xmlns:a16="http://schemas.microsoft.com/office/drawing/2014/main" id="{C93997C9-35D9-4220-AC8A-6CB5302D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Disposability</a:t>
            </a:r>
          </a:p>
        </p:txBody>
      </p:sp>
      <p:sp>
        <p:nvSpPr>
          <p:cNvPr id="60" name="status-label-8">
            <a:extLst xmlns:a="http://schemas.openxmlformats.org/drawingml/2006/main">
              <a:ext uri="{FF2B5EF4-FFF2-40B4-BE49-F238E27FC236}">
                <a16:creationId xmlns:a16="http://schemas.microsoft.com/office/drawing/2014/main" id="{508A0792-EF97-4603-BA22-0D3A533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386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61" name="status-line-9">
            <a:extLst xmlns:a="http://schemas.openxmlformats.org/drawingml/2006/main">
              <a:ext uri="{FF2B5EF4-FFF2-40B4-BE49-F238E27FC236}">
                <a16:creationId xmlns:a16="http://schemas.microsoft.com/office/drawing/2014/main" id="{9E58A9F7-DAC8-4B30-B9A7-D084E154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577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tatus-dot-9">
            <a:extLst xmlns:a="http://schemas.openxmlformats.org/drawingml/2006/main">
              <a:ext uri="{FF2B5EF4-FFF2-40B4-BE49-F238E27FC236}">
                <a16:creationId xmlns:a16="http://schemas.microsoft.com/office/drawing/2014/main" id="{8DF68314-FFA5-4565-A451-5839F83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tatus-roman-9">
            <a:extLst xmlns:a="http://schemas.openxmlformats.org/drawingml/2006/main">
              <a:ext uri="{FF2B5EF4-FFF2-40B4-BE49-F238E27FC236}">
                <a16:creationId xmlns:a16="http://schemas.microsoft.com/office/drawing/2014/main" id="{188CAEE5-7BCB-4B46-85F1-19D0A0C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815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X</a:t>
            </a:r>
          </a:p>
        </p:txBody>
      </p:sp>
      <p:sp>
        <p:nvSpPr>
          <p:cNvPr id="64" name="status-factor-9">
            <a:extLst xmlns:a="http://schemas.openxmlformats.org/drawingml/2006/main">
              <a:ext uri="{FF2B5EF4-FFF2-40B4-BE49-F238E27FC236}">
                <a16:creationId xmlns:a16="http://schemas.microsoft.com/office/drawing/2014/main" id="{731FAB0C-B067-4A0C-9566-A70E46E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Dev/prod parity</a:t>
            </a:r>
          </a:p>
        </p:txBody>
      </p:sp>
      <p:sp>
        <p:nvSpPr>
          <p:cNvPr id="65" name="status-label-9">
            <a:extLst xmlns:a="http://schemas.openxmlformats.org/drawingml/2006/main">
              <a:ext uri="{FF2B5EF4-FFF2-40B4-BE49-F238E27FC236}">
                <a16:creationId xmlns:a16="http://schemas.microsoft.com/office/drawing/2014/main" id="{EC42D727-9967-4A0F-86E3-1F03DEE9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66" name="status-line-10">
            <a:extLst xmlns:a="http://schemas.openxmlformats.org/drawingml/2006/main">
              <a:ext uri="{FF2B5EF4-FFF2-40B4-BE49-F238E27FC236}">
                <a16:creationId xmlns:a16="http://schemas.microsoft.com/office/drawing/2014/main" id="{65627399-8DBC-4212-8EC7-BA553FA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00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tatus-dot-10">
            <a:extLst xmlns:a="http://schemas.openxmlformats.org/drawingml/2006/main">
              <a:ext uri="{FF2B5EF4-FFF2-40B4-BE49-F238E27FC236}">
                <a16:creationId xmlns:a16="http://schemas.microsoft.com/office/drawing/2014/main" id="{61CFC978-845B-4D57-BA30-342E4A2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tatus-roman-10">
            <a:extLst xmlns:a="http://schemas.openxmlformats.org/drawingml/2006/main">
              <a:ext uri="{FF2B5EF4-FFF2-40B4-BE49-F238E27FC236}">
                <a16:creationId xmlns:a16="http://schemas.microsoft.com/office/drawing/2014/main" id="{D6301D76-7372-4B5E-BB61-F5A3606D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244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XI</a:t>
            </a:r>
          </a:p>
        </p:txBody>
      </p:sp>
      <p:sp>
        <p:nvSpPr>
          <p:cNvPr id="69" name="status-factor-10">
            <a:extLst xmlns:a="http://schemas.openxmlformats.org/drawingml/2006/main">
              <a:ext uri="{FF2B5EF4-FFF2-40B4-BE49-F238E27FC236}">
                <a16:creationId xmlns:a16="http://schemas.microsoft.com/office/drawing/2014/main" id="{5C5C26C8-0189-4C9C-B816-11A46BD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Logs</a:t>
            </a:r>
          </a:p>
        </p:txBody>
      </p:sp>
      <p:sp>
        <p:nvSpPr>
          <p:cNvPr id="70" name="status-label-10">
            <a:extLst xmlns:a="http://schemas.openxmlformats.org/drawingml/2006/main">
              <a:ext uri="{FF2B5EF4-FFF2-40B4-BE49-F238E27FC236}">
                <a16:creationId xmlns:a16="http://schemas.microsoft.com/office/drawing/2014/main" id="{AF81505E-95FC-48CB-987D-FECE0EC3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24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71" name="status-line-11">
            <a:extLst xmlns:a="http://schemas.openxmlformats.org/drawingml/2006/main">
              <a:ext uri="{FF2B5EF4-FFF2-40B4-BE49-F238E27FC236}">
                <a16:creationId xmlns:a16="http://schemas.microsoft.com/office/drawing/2014/main" id="{B3B29893-E838-45A5-9E67-2C9815B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status-dot-11">
            <a:extLst xmlns:a="http://schemas.openxmlformats.org/drawingml/2006/main">
              <a:ext uri="{FF2B5EF4-FFF2-40B4-BE49-F238E27FC236}">
                <a16:creationId xmlns:a16="http://schemas.microsoft.com/office/drawing/2014/main" id="{022550FE-14D9-44D9-88B6-E73D71F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34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tatus-roman-11">
            <a:extLst xmlns:a="http://schemas.openxmlformats.org/drawingml/2006/main">
              <a:ext uri="{FF2B5EF4-FFF2-40B4-BE49-F238E27FC236}">
                <a16:creationId xmlns:a16="http://schemas.microsoft.com/office/drawing/2014/main" id="{DDCA5599-1B52-42D8-ABEF-21835B3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673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XII</a:t>
            </a:r>
          </a:p>
        </p:txBody>
      </p:sp>
      <p:sp>
        <p:nvSpPr>
          <p:cNvPr id="74" name="status-factor-11">
            <a:extLst xmlns:a="http://schemas.openxmlformats.org/drawingml/2006/main">
              <a:ext uri="{FF2B5EF4-FFF2-40B4-BE49-F238E27FC236}">
                <a16:creationId xmlns:a16="http://schemas.microsoft.com/office/drawing/2014/main" id="{F73B771C-87C0-4B78-B92E-85B4F66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 processes</a:t>
            </a:r>
          </a:p>
        </p:txBody>
      </p:sp>
      <p:sp>
        <p:nvSpPr>
          <p:cNvPr id="75" name="status-label-11">
            <a:extLst xmlns:a="http://schemas.openxmlformats.org/drawingml/2006/main">
              <a:ext uri="{FF2B5EF4-FFF2-40B4-BE49-F238E27FC236}">
                <a16:creationId xmlns:a16="http://schemas.microsoft.com/office/drawing/2014/main" id="{6A3AEA72-4BF3-4CEB-965F-9731E947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673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C7"/>
                </a:solidFill>
                <a:latin typeface="Helvetica Neue"/>
                <a:ea typeface="Helvetica Neue"/>
                <a:cs typeface="Helvetica Neue"/>
              </a:defRPr>
            </a:pPr>
            <a:r>
              <a:t>Quase aderente</a:t>
            </a:r>
          </a:p>
        </p:txBody>
      </p:sp>
      <p:sp>
        <p:nvSpPr>
          <p:cNvPr id="76" name="source">
            <a:extLst xmlns:a="http://schemas.openxmlformats.org/drawingml/2006/main">
              <a:ext uri="{FF2B5EF4-FFF2-40B4-BE49-F238E27FC236}">
                <a16:creationId xmlns:a16="http://schemas.microsoft.com/office/drawing/2014/main" id="{622CF4E8-1F37-4445-ACA9-53D06D0C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.env.example; pom.xml; Dockerfiles; config-repository/config/*</a:t>
            </a:r>
          </a:p>
        </p:txBody>
      </p:sp>
      <p:sp>
        <p:nvSpPr>
          <p:cNvPr id="7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8039D8-B94D-45BA-8343-5AFA452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4677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9539DB3-117C-45C1-AAA8-7497A9B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I–III: build reproduzível e configuração central convivem com o monorepo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13BEB-A8A6-4A15-8491-2CDCC28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projeto privilegia uma entrega acadêmica atômica, mas separa imagens, dependências e configuração de runtime.</a:t>
            </a:r>
          </a:p>
        </p:txBody>
      </p:sp>
      <p:sp>
        <p:nvSpPr>
          <p:cNvPr id="3" name="factor-1-panel">
            <a:extLst xmlns:a="http://schemas.openxmlformats.org/drawingml/2006/main">
              <a:ext uri="{FF2B5EF4-FFF2-40B4-BE49-F238E27FC236}">
                <a16:creationId xmlns:a16="http://schemas.microsoft.com/office/drawing/2014/main" id="{FADCB577-DA3F-408E-9685-24C67B21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1-statusbar">
            <a:extLst xmlns:a="http://schemas.openxmlformats.org/drawingml/2006/main">
              <a:ext uri="{FF2B5EF4-FFF2-40B4-BE49-F238E27FC236}">
                <a16:creationId xmlns:a16="http://schemas.microsoft.com/office/drawing/2014/main" id="{B497FF0E-0FD5-41E1-A126-C1BC0638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1-name">
            <a:extLst xmlns:a="http://schemas.openxmlformats.org/drawingml/2006/main">
              <a:ext uri="{FF2B5EF4-FFF2-40B4-BE49-F238E27FC236}">
                <a16:creationId xmlns:a16="http://schemas.microsoft.com/office/drawing/2014/main" id="{48454102-5892-4B7C-B09F-B0EA4B1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I. Codebase</a:t>
            </a:r>
          </a:p>
        </p:txBody>
      </p:sp>
      <p:sp>
        <p:nvSpPr>
          <p:cNvPr id="6" name="factor-1-badge-mark">
            <a:extLst xmlns:a="http://schemas.openxmlformats.org/drawingml/2006/main">
              <a:ext uri="{FF2B5EF4-FFF2-40B4-BE49-F238E27FC236}">
                <a16:creationId xmlns:a16="http://schemas.microsoft.com/office/drawing/2014/main" id="{5793275D-B261-408F-AEFF-834E66F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1-badge-label">
            <a:extLst xmlns:a="http://schemas.openxmlformats.org/drawingml/2006/main">
              <a:ext uri="{FF2B5EF4-FFF2-40B4-BE49-F238E27FC236}">
                <a16:creationId xmlns:a16="http://schemas.microsoft.com/office/drawing/2014/main" id="{64893AAE-3C35-4759-9677-4DB5DA89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8" name="factor-1-evidence-label">
            <a:extLst xmlns:a="http://schemas.openxmlformats.org/drawingml/2006/main">
              <a:ext uri="{FF2B5EF4-FFF2-40B4-BE49-F238E27FC236}">
                <a16:creationId xmlns:a16="http://schemas.microsoft.com/office/drawing/2014/main" id="{03CF7CEC-56F5-4BA4-9761-3100D1F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1-evidence">
            <a:extLst xmlns:a="http://schemas.openxmlformats.org/drawingml/2006/main">
              <a:ext uri="{FF2B5EF4-FFF2-40B4-BE49-F238E27FC236}">
                <a16:creationId xmlns:a16="http://schemas.microsoft.com/office/drawing/2014/main" id="{BDCC7AAD-7926-487B-A79E-CD20AB7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 único repositório Git gera imagens separadas por módulo Maven.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Os módulos não compartilham estado de runtime.</a:t>
            </a:r>
          </a:p>
        </p:txBody>
      </p:sp>
      <p:sp>
        <p:nvSpPr>
          <p:cNvPr id="10" name="factor-1-attention-label">
            <a:extLst xmlns:a="http://schemas.openxmlformats.org/drawingml/2006/main">
              <a:ext uri="{FF2B5EF4-FFF2-40B4-BE49-F238E27FC236}">
                <a16:creationId xmlns:a16="http://schemas.microsoft.com/office/drawing/2014/main" id="{97D2B532-4093-444C-AE28-D99D582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1-attention">
            <a:extLst xmlns:a="http://schemas.openxmlformats.org/drawingml/2006/main">
              <a:ext uri="{FF2B5EF4-FFF2-40B4-BE49-F238E27FC236}">
                <a16:creationId xmlns:a16="http://schemas.microsoft.com/office/drawing/2014/main" id="{EEBB6C20-F982-436C-A24A-D6A2BB15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Não segue um repo por serviço.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escolha mantém sistema, config e versão juntos.</a:t>
            </a:r>
          </a:p>
        </p:txBody>
      </p:sp>
      <p:sp>
        <p:nvSpPr>
          <p:cNvPr id="12" name="factor-2-panel">
            <a:extLst xmlns:a="http://schemas.openxmlformats.org/drawingml/2006/main">
              <a:ext uri="{FF2B5EF4-FFF2-40B4-BE49-F238E27FC236}">
                <a16:creationId xmlns:a16="http://schemas.microsoft.com/office/drawing/2014/main" id="{D6C937FC-7184-4828-8FB6-8C1733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2-statusbar">
            <a:extLst xmlns:a="http://schemas.openxmlformats.org/drawingml/2006/main">
              <a:ext uri="{FF2B5EF4-FFF2-40B4-BE49-F238E27FC236}">
                <a16:creationId xmlns:a16="http://schemas.microsoft.com/office/drawing/2014/main" id="{542EC19E-5CD5-4B20-889E-E47D1C64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2-name">
            <a:extLst xmlns:a="http://schemas.openxmlformats.org/drawingml/2006/main">
              <a:ext uri="{FF2B5EF4-FFF2-40B4-BE49-F238E27FC236}">
                <a16:creationId xmlns:a16="http://schemas.microsoft.com/office/drawing/2014/main" id="{87B56887-5433-404B-84D6-30F29AD0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II. Dependencies</a:t>
            </a:r>
          </a:p>
        </p:txBody>
      </p:sp>
      <p:sp>
        <p:nvSpPr>
          <p:cNvPr id="15" name="factor-2-badge-mark">
            <a:extLst xmlns:a="http://schemas.openxmlformats.org/drawingml/2006/main">
              <a:ext uri="{FF2B5EF4-FFF2-40B4-BE49-F238E27FC236}">
                <a16:creationId xmlns:a16="http://schemas.microsoft.com/office/drawing/2014/main" id="{19C3D542-1B12-4FE9-A64B-1934AC5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2-badge-label">
            <a:extLst xmlns:a="http://schemas.openxmlformats.org/drawingml/2006/main">
              <a:ext uri="{FF2B5EF4-FFF2-40B4-BE49-F238E27FC236}">
                <a16:creationId xmlns:a16="http://schemas.microsoft.com/office/drawing/2014/main" id="{1504D9E7-54BB-4D18-B735-A84F25B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17" name="factor-2-evidence-label">
            <a:extLst xmlns:a="http://schemas.openxmlformats.org/drawingml/2006/main">
              <a:ext uri="{FF2B5EF4-FFF2-40B4-BE49-F238E27FC236}">
                <a16:creationId xmlns:a16="http://schemas.microsoft.com/office/drawing/2014/main" id="{89876EE9-8759-4761-A229-14F93F88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2-evidence">
            <a:extLst xmlns:a="http://schemas.openxmlformats.org/drawingml/2006/main">
              <a:ext uri="{FF2B5EF4-FFF2-40B4-BE49-F238E27FC236}">
                <a16:creationId xmlns:a16="http://schemas.microsoft.com/office/drawing/2014/main" id="{3CF0C5EA-4C43-4F75-B1B1-5EAD660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Maven wrapper, BOMs, Enforcer e Dockerfiles multi-stage declaram dependências.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Imagens base têm versões e vários digests fixos.</a:t>
            </a:r>
          </a:p>
        </p:txBody>
      </p:sp>
      <p:sp>
        <p:nvSpPr>
          <p:cNvPr id="19" name="factor-2-attention-label">
            <a:extLst xmlns:a="http://schemas.openxmlformats.org/drawingml/2006/main">
              <a:ext uri="{FF2B5EF4-FFF2-40B4-BE49-F238E27FC236}">
                <a16:creationId xmlns:a16="http://schemas.microsoft.com/office/drawing/2014/main" id="{8868B601-0183-4843-9BB0-D3A7A11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2-attention">
            <a:extLst xmlns:a="http://schemas.openxmlformats.org/drawingml/2006/main">
              <a:ext uri="{FF2B5EF4-FFF2-40B4-BE49-F238E27FC236}">
                <a16:creationId xmlns:a16="http://schemas.microsoft.com/office/drawing/2014/main" id="{E222FE28-55C2-4990-821D-53548879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Modelo Ollama usa tag local.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Revalidar quando o volume do modelo for recriado.</a:t>
            </a:r>
          </a:p>
        </p:txBody>
      </p:sp>
      <p:sp>
        <p:nvSpPr>
          <p:cNvPr id="21" name="factor-3-panel">
            <a:extLst xmlns:a="http://schemas.openxmlformats.org/drawingml/2006/main">
              <a:ext uri="{FF2B5EF4-FFF2-40B4-BE49-F238E27FC236}">
                <a16:creationId xmlns:a16="http://schemas.microsoft.com/office/drawing/2014/main" id="{FFF43819-24C0-4C27-8518-4028FAF3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3-statusbar">
            <a:extLst xmlns:a="http://schemas.openxmlformats.org/drawingml/2006/main">
              <a:ext uri="{FF2B5EF4-FFF2-40B4-BE49-F238E27FC236}">
                <a16:creationId xmlns:a16="http://schemas.microsoft.com/office/drawing/2014/main" id="{D4231BDF-2E8B-473D-A718-E55A06B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3-name">
            <a:extLst xmlns:a="http://schemas.openxmlformats.org/drawingml/2006/main">
              <a:ext uri="{FF2B5EF4-FFF2-40B4-BE49-F238E27FC236}">
                <a16:creationId xmlns:a16="http://schemas.microsoft.com/office/drawing/2014/main" id="{E95EE1D0-580B-46D4-9016-23F9DDCA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III. Config</a:t>
            </a:r>
          </a:p>
        </p:txBody>
      </p:sp>
      <p:sp>
        <p:nvSpPr>
          <p:cNvPr id="24" name="factor-3-badge-mark">
            <a:extLst xmlns:a="http://schemas.openxmlformats.org/drawingml/2006/main">
              <a:ext uri="{FF2B5EF4-FFF2-40B4-BE49-F238E27FC236}">
                <a16:creationId xmlns:a16="http://schemas.microsoft.com/office/drawing/2014/main" id="{1344DD2D-53C6-42C5-8D56-6A4C62E8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3-badge-label">
            <a:extLst xmlns:a="http://schemas.openxmlformats.org/drawingml/2006/main">
              <a:ext uri="{FF2B5EF4-FFF2-40B4-BE49-F238E27FC236}">
                <a16:creationId xmlns:a16="http://schemas.microsoft.com/office/drawing/2014/main" id="{3EA4F7FC-BFC7-4889-82DA-56B82ABB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A4B00"/>
                </a:solidFill>
                <a:latin typeface="Helvetica Neue"/>
                <a:ea typeface="Helvetica Neue"/>
                <a:cs typeface="Helvetica Neue"/>
              </a:defRPr>
            </a:pPr>
            <a:r>
              <a:t>Pragmático</a:t>
            </a:r>
          </a:p>
        </p:txBody>
      </p:sp>
      <p:sp>
        <p:nvSpPr>
          <p:cNvPr id="26" name="factor-3-evidence-label">
            <a:extLst xmlns:a="http://schemas.openxmlformats.org/drawingml/2006/main">
              <a:ext uri="{FF2B5EF4-FFF2-40B4-BE49-F238E27FC236}">
                <a16:creationId xmlns:a16="http://schemas.microsoft.com/office/drawing/2014/main" id="{DB5916BB-71FC-4CEF-A12D-E659770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3-evidence">
            <a:extLst xmlns:a="http://schemas.openxmlformats.org/drawingml/2006/main">
              <a:ext uri="{FF2B5EF4-FFF2-40B4-BE49-F238E27FC236}">
                <a16:creationId xmlns:a16="http://schemas.microsoft.com/office/drawing/2014/main" id="{84759907-6CB7-4E04-9EB8-9DD1FE43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Segredos entram por variáveis de ambiente.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 Server guarda política não secreta e URLs sobrescrevíveis.</a:t>
            </a:r>
          </a:p>
        </p:txBody>
      </p:sp>
      <p:sp>
        <p:nvSpPr>
          <p:cNvPr id="28" name="factor-3-attention-label">
            <a:extLst xmlns:a="http://schemas.openxmlformats.org/drawingml/2006/main">
              <a:ext uri="{FF2B5EF4-FFF2-40B4-BE49-F238E27FC236}">
                <a16:creationId xmlns:a16="http://schemas.microsoft.com/office/drawing/2014/main" id="{66506789-2B30-405D-8D3B-81E8740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3-attention">
            <a:extLst xmlns:a="http://schemas.openxmlformats.org/drawingml/2006/main">
              <a:ext uri="{FF2B5EF4-FFF2-40B4-BE49-F238E27FC236}">
                <a16:creationId xmlns:a16="http://schemas.microsoft.com/office/drawing/2014/main" id="{AC5C5D03-2592-427D-9E44-D0204C8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Não é env-only.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.env é apenas contrato local do Compose.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7C49EC2C-9074-45B0-AD43-B5C9021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pom.xml; .env.example; compose.yml; config-repository/config/*; Dockerfiles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06B90D-5760-4052-8974-A896836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0279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9D62961-7BCC-4AC4-86BB-884A0ADD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IV–VI: réplicas Java são descartáveis; o estado vive nos anexos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2EDC82-0148-4C3E-87AF-89C8996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URLs, credenciais, DNS e volumes desacoplam os serviços de aplicação do banco, do modelo e dos provedores externos.</a:t>
            </a:r>
          </a:p>
        </p:txBody>
      </p:sp>
      <p:sp>
        <p:nvSpPr>
          <p:cNvPr id="3" name="factor-4-panel">
            <a:extLst xmlns:a="http://schemas.openxmlformats.org/drawingml/2006/main">
              <a:ext uri="{FF2B5EF4-FFF2-40B4-BE49-F238E27FC236}">
                <a16:creationId xmlns:a16="http://schemas.microsoft.com/office/drawing/2014/main" id="{79935020-EA7F-4463-833C-171821B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4-statusbar">
            <a:extLst xmlns:a="http://schemas.openxmlformats.org/drawingml/2006/main">
              <a:ext uri="{FF2B5EF4-FFF2-40B4-BE49-F238E27FC236}">
                <a16:creationId xmlns:a16="http://schemas.microsoft.com/office/drawing/2014/main" id="{D9B5CAC0-4FCF-4C2D-8A61-E1E37E3A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4-name">
            <a:extLst xmlns:a="http://schemas.openxmlformats.org/drawingml/2006/main">
              <a:ext uri="{FF2B5EF4-FFF2-40B4-BE49-F238E27FC236}">
                <a16:creationId xmlns:a16="http://schemas.microsoft.com/office/drawing/2014/main" id="{961A7A7C-E26C-4093-8E5D-56E99B1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IV. Backing services</a:t>
            </a:r>
          </a:p>
        </p:txBody>
      </p:sp>
      <p:sp>
        <p:nvSpPr>
          <p:cNvPr id="6" name="factor-4-badge-mark">
            <a:extLst xmlns:a="http://schemas.openxmlformats.org/drawingml/2006/main">
              <a:ext uri="{FF2B5EF4-FFF2-40B4-BE49-F238E27FC236}">
                <a16:creationId xmlns:a16="http://schemas.microsoft.com/office/drawing/2014/main" id="{D49D3190-042C-46C0-8742-427B6504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4-badge-label">
            <a:extLst xmlns:a="http://schemas.openxmlformats.org/drawingml/2006/main">
              <a:ext uri="{FF2B5EF4-FFF2-40B4-BE49-F238E27FC236}">
                <a16:creationId xmlns:a16="http://schemas.microsoft.com/office/drawing/2014/main" id="{D6316FC4-D426-41F5-8140-82577E6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8" name="factor-4-evidence-label">
            <a:extLst xmlns:a="http://schemas.openxmlformats.org/drawingml/2006/main">
              <a:ext uri="{FF2B5EF4-FFF2-40B4-BE49-F238E27FC236}">
                <a16:creationId xmlns:a16="http://schemas.microsoft.com/office/drawing/2014/main" id="{35902CC3-8A97-493D-BA84-874A8B0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4-evidence">
            <a:extLst xmlns:a="http://schemas.openxmlformats.org/drawingml/2006/main">
              <a:ext uri="{FF2B5EF4-FFF2-40B4-BE49-F238E27FC236}">
                <a16:creationId xmlns:a16="http://schemas.microsoft.com/office/drawing/2014/main" id="{E44AF9A7-A7A2-4048-9408-BC370F84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641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PostgreSQL, Ollama, Groq, Tavily, Eureka, Zipkin, Prometheus e Config Git entram por handles configuráveis.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Trocar URL ou credencial não exige rebuild da app.</a:t>
            </a:r>
          </a:p>
        </p:txBody>
      </p:sp>
      <p:sp>
        <p:nvSpPr>
          <p:cNvPr id="10" name="factor-4-attention-label">
            <a:extLst xmlns:a="http://schemas.openxmlformats.org/drawingml/2006/main">
              <a:ext uri="{FF2B5EF4-FFF2-40B4-BE49-F238E27FC236}">
                <a16:creationId xmlns:a16="http://schemas.microsoft.com/office/drawing/2014/main" id="{119ACFDE-6377-464B-BBF4-D876245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4-attention">
            <a:extLst xmlns:a="http://schemas.openxmlformats.org/drawingml/2006/main">
              <a:ext uri="{FF2B5EF4-FFF2-40B4-BE49-F238E27FC236}">
                <a16:creationId xmlns:a16="http://schemas.microsoft.com/office/drawing/2014/main" id="{082E73D9-7ECD-43F0-961F-32C88C7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traz defaults locais.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Ambientes reais devem substituir os anexos.</a:t>
            </a:r>
          </a:p>
        </p:txBody>
      </p:sp>
      <p:sp>
        <p:nvSpPr>
          <p:cNvPr id="12" name="factor-5-panel">
            <a:extLst xmlns:a="http://schemas.openxmlformats.org/drawingml/2006/main">
              <a:ext uri="{FF2B5EF4-FFF2-40B4-BE49-F238E27FC236}">
                <a16:creationId xmlns:a16="http://schemas.microsoft.com/office/drawing/2014/main" id="{5D62D6BC-CED4-4A2A-B7A2-38139183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5-statusbar">
            <a:extLst xmlns:a="http://schemas.openxmlformats.org/drawingml/2006/main">
              <a:ext uri="{FF2B5EF4-FFF2-40B4-BE49-F238E27FC236}">
                <a16:creationId xmlns:a16="http://schemas.microsoft.com/office/drawing/2014/main" id="{5B9E5271-47F8-40DF-9C08-6506CF5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5-name">
            <a:extLst xmlns:a="http://schemas.openxmlformats.org/drawingml/2006/main">
              <a:ext uri="{FF2B5EF4-FFF2-40B4-BE49-F238E27FC236}">
                <a16:creationId xmlns:a16="http://schemas.microsoft.com/office/drawing/2014/main" id="{E8753365-4212-48CE-B5A3-727BAB32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V. Build, release, run</a:t>
            </a:r>
          </a:p>
        </p:txBody>
      </p:sp>
      <p:sp>
        <p:nvSpPr>
          <p:cNvPr id="15" name="factor-5-badge-mark">
            <a:extLst xmlns:a="http://schemas.openxmlformats.org/drawingml/2006/main">
              <a:ext uri="{FF2B5EF4-FFF2-40B4-BE49-F238E27FC236}">
                <a16:creationId xmlns:a16="http://schemas.microsoft.com/office/drawing/2014/main" id="{A15C846D-9D59-4D06-B3C2-E64376D4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5-badge-label">
            <a:extLst xmlns:a="http://schemas.openxmlformats.org/drawingml/2006/main">
              <a:ext uri="{FF2B5EF4-FFF2-40B4-BE49-F238E27FC236}">
                <a16:creationId xmlns:a16="http://schemas.microsoft.com/office/drawing/2014/main" id="{DF662D43-0EC6-41A6-AD7F-6F82E5FE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17" name="factor-5-evidence-label">
            <a:extLst xmlns:a="http://schemas.openxmlformats.org/drawingml/2006/main">
              <a:ext uri="{FF2B5EF4-FFF2-40B4-BE49-F238E27FC236}">
                <a16:creationId xmlns:a16="http://schemas.microsoft.com/office/drawing/2014/main" id="{7AE5A04C-233E-479F-B944-ADED5826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5-evidence">
            <a:extLst xmlns:a="http://schemas.openxmlformats.org/drawingml/2006/main">
              <a:ext uri="{FF2B5EF4-FFF2-40B4-BE49-F238E27FC236}">
                <a16:creationId xmlns:a16="http://schemas.microsoft.com/office/drawing/2014/main" id="{C7A3632E-B038-4308-A530-1C1C892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Maven verifica; docker compose build cria imagens com labels de versão e revisão.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Runbook recomenda executar com up --no-build.</a:t>
            </a:r>
          </a:p>
        </p:txBody>
      </p:sp>
      <p:sp>
        <p:nvSpPr>
          <p:cNvPr id="19" name="factor-5-attention-label">
            <a:extLst xmlns:a="http://schemas.openxmlformats.org/drawingml/2006/main">
              <a:ext uri="{FF2B5EF4-FFF2-40B4-BE49-F238E27FC236}">
                <a16:creationId xmlns:a16="http://schemas.microsoft.com/office/drawing/2014/main" id="{608F2242-A87D-45A8-80DC-0F406178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5-attention">
            <a:extLst xmlns:a="http://schemas.openxmlformats.org/drawingml/2006/main">
              <a:ext uri="{FF2B5EF4-FFF2-40B4-BE49-F238E27FC236}">
                <a16:creationId xmlns:a16="http://schemas.microsoft.com/office/drawing/2014/main" id="{C3099EFF-E05E-419F-A39C-B921A60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não registra promoção imutável.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Operadores precisam preservar tags e revisão.</a:t>
            </a:r>
          </a:p>
        </p:txBody>
      </p:sp>
      <p:sp>
        <p:nvSpPr>
          <p:cNvPr id="21" name="factor-6-panel">
            <a:extLst xmlns:a="http://schemas.openxmlformats.org/drawingml/2006/main">
              <a:ext uri="{FF2B5EF4-FFF2-40B4-BE49-F238E27FC236}">
                <a16:creationId xmlns:a16="http://schemas.microsoft.com/office/drawing/2014/main" id="{B6D1CA15-5CFB-4FFD-BABD-992CD32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6-statusbar">
            <a:extLst xmlns:a="http://schemas.openxmlformats.org/drawingml/2006/main">
              <a:ext uri="{FF2B5EF4-FFF2-40B4-BE49-F238E27FC236}">
                <a16:creationId xmlns:a16="http://schemas.microsoft.com/office/drawing/2014/main" id="{B8886F24-55B0-4441-8EDB-9E8E2980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6-name">
            <a:extLst xmlns:a="http://schemas.openxmlformats.org/drawingml/2006/main">
              <a:ext uri="{FF2B5EF4-FFF2-40B4-BE49-F238E27FC236}">
                <a16:creationId xmlns:a16="http://schemas.microsoft.com/office/drawing/2014/main" id="{982BD7EB-3518-4850-91D6-728996A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VI. Processes</a:t>
            </a:r>
          </a:p>
        </p:txBody>
      </p:sp>
      <p:sp>
        <p:nvSpPr>
          <p:cNvPr id="24" name="factor-6-badge-mark">
            <a:extLst xmlns:a="http://schemas.openxmlformats.org/drawingml/2006/main">
              <a:ext uri="{FF2B5EF4-FFF2-40B4-BE49-F238E27FC236}">
                <a16:creationId xmlns:a16="http://schemas.microsoft.com/office/drawing/2014/main" id="{5D514411-D60A-4F6D-A4E2-1A75E80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6-badge-label">
            <a:extLst xmlns:a="http://schemas.openxmlformats.org/drawingml/2006/main">
              <a:ext uri="{FF2B5EF4-FFF2-40B4-BE49-F238E27FC236}">
                <a16:creationId xmlns:a16="http://schemas.microsoft.com/office/drawing/2014/main" id="{BC06C450-F6EA-4FD9-B3E2-B3A3081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26" name="factor-6-evidence-label">
            <a:extLst xmlns:a="http://schemas.openxmlformats.org/drawingml/2006/main">
              <a:ext uri="{FF2B5EF4-FFF2-40B4-BE49-F238E27FC236}">
                <a16:creationId xmlns:a16="http://schemas.microsoft.com/office/drawing/2014/main" id="{A377B47B-E0D8-492D-B9D9-BFF1D85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6-evidence">
            <a:extLst xmlns:a="http://schemas.openxmlformats.org/drawingml/2006/main">
              <a:ext uri="{FF2B5EF4-FFF2-40B4-BE49-F238E27FC236}">
                <a16:creationId xmlns:a16="http://schemas.microsoft.com/office/drawing/2014/main" id="{E55B6FD8-DFCA-4991-8469-60B8B2ED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Containers Java não guardam estado de negócio no filesystem.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 memory e vetores ficam no PostgreSQL; modelos ficam no volume Ollama.</a:t>
            </a:r>
          </a:p>
        </p:txBody>
      </p:sp>
      <p:sp>
        <p:nvSpPr>
          <p:cNvPr id="28" name="factor-6-attention-label">
            <a:extLst xmlns:a="http://schemas.openxmlformats.org/drawingml/2006/main">
              <a:ext uri="{FF2B5EF4-FFF2-40B4-BE49-F238E27FC236}">
                <a16:creationId xmlns:a16="http://schemas.microsoft.com/office/drawing/2014/main" id="{2C2E327C-C3EA-4662-85C0-99A3866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6-attention">
            <a:extLst xmlns:a="http://schemas.openxmlformats.org/drawingml/2006/main">
              <a:ext uri="{FF2B5EF4-FFF2-40B4-BE49-F238E27FC236}">
                <a16:creationId xmlns:a16="http://schemas.microsoft.com/office/drawing/2014/main" id="{F7A73D1E-CFF5-449A-B24D-B61B491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PostgreSQL, Ollama, Prometheus e Grafana continuam stateful por natureza.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avaliação separa app e infraestrutura.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1BB70E21-4197-4345-A8CA-FF5C40C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.env.example; Dockerfiles dos módulos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8B780D-0322-478A-AC56-B2351B3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4216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DD4FF40-E66F-4B91-A675-2EF71366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VII–IX: portas e descarte estão maduros; concorrência ainda é desigual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EC13B6-C3B3-4B62-B730-3EF9C264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caminho principal é replicado, mas edge, Normalizer, MCP e serviços stateful ainda têm instâncias únicas.</a:t>
            </a:r>
          </a:p>
        </p:txBody>
      </p:sp>
      <p:sp>
        <p:nvSpPr>
          <p:cNvPr id="3" name="factor-7-panel">
            <a:extLst xmlns:a="http://schemas.openxmlformats.org/drawingml/2006/main">
              <a:ext uri="{FF2B5EF4-FFF2-40B4-BE49-F238E27FC236}">
                <a16:creationId xmlns:a16="http://schemas.microsoft.com/office/drawing/2014/main" id="{2AD4BD4F-9E33-4EED-B417-E9D4C69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7-statusbar">
            <a:extLst xmlns:a="http://schemas.openxmlformats.org/drawingml/2006/main">
              <a:ext uri="{FF2B5EF4-FFF2-40B4-BE49-F238E27FC236}">
                <a16:creationId xmlns:a16="http://schemas.microsoft.com/office/drawing/2014/main" id="{0242E99D-DA84-44C9-993C-3F35AD55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7-name">
            <a:extLst xmlns:a="http://schemas.openxmlformats.org/drawingml/2006/main">
              <a:ext uri="{FF2B5EF4-FFF2-40B4-BE49-F238E27FC236}">
                <a16:creationId xmlns:a16="http://schemas.microsoft.com/office/drawing/2014/main" id="{5734EC42-AF05-4DDB-8BAF-B3D557F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VII. Port binding</a:t>
            </a:r>
          </a:p>
        </p:txBody>
      </p:sp>
      <p:sp>
        <p:nvSpPr>
          <p:cNvPr id="6" name="factor-7-badge-mark">
            <a:extLst xmlns:a="http://schemas.openxmlformats.org/drawingml/2006/main">
              <a:ext uri="{FF2B5EF4-FFF2-40B4-BE49-F238E27FC236}">
                <a16:creationId xmlns:a16="http://schemas.microsoft.com/office/drawing/2014/main" id="{93564AE2-3585-459A-A934-7A8B3AFB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7-badge-label">
            <a:extLst xmlns:a="http://schemas.openxmlformats.org/drawingml/2006/main">
              <a:ext uri="{FF2B5EF4-FFF2-40B4-BE49-F238E27FC236}">
                <a16:creationId xmlns:a16="http://schemas.microsoft.com/office/drawing/2014/main" id="{F193F314-7F85-4F48-BD36-C4DD100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8" name="factor-7-evidence-label">
            <a:extLst xmlns:a="http://schemas.openxmlformats.org/drawingml/2006/main">
              <a:ext uri="{FF2B5EF4-FFF2-40B4-BE49-F238E27FC236}">
                <a16:creationId xmlns:a16="http://schemas.microsoft.com/office/drawing/2014/main" id="{969553A6-74E1-435C-A4C5-A3A6250F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7-evidence">
            <a:extLst xmlns:a="http://schemas.openxmlformats.org/drawingml/2006/main">
              <a:ext uri="{FF2B5EF4-FFF2-40B4-BE49-F238E27FC236}">
                <a16:creationId xmlns:a16="http://schemas.microsoft.com/office/drawing/2014/main" id="{7E2D8669-A3A4-4B86-8D03-E75E8D61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Cada serviço Java usa server.port=${PORT}.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 é exposto diretamente pelo processo; só edge e UIs operacionais são publicados no localhost.</a:t>
            </a:r>
          </a:p>
        </p:txBody>
      </p:sp>
      <p:sp>
        <p:nvSpPr>
          <p:cNvPr id="10" name="factor-7-attention-label">
            <a:extLst xmlns:a="http://schemas.openxmlformats.org/drawingml/2006/main">
              <a:ext uri="{FF2B5EF4-FFF2-40B4-BE49-F238E27FC236}">
                <a16:creationId xmlns:a16="http://schemas.microsoft.com/office/drawing/2014/main" id="{B4FC01E9-C01D-43F0-8968-4F09347F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7-attention">
            <a:extLst xmlns:a="http://schemas.openxmlformats.org/drawingml/2006/main">
              <a:ext uri="{FF2B5EF4-FFF2-40B4-BE49-F238E27FC236}">
                <a16:creationId xmlns:a16="http://schemas.microsoft.com/office/drawing/2014/main" id="{EFCE0EFE-A546-4495-8B21-1A9A9CC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Imagens de terceiros preservam portas internas padrão.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Isso fica na fronteira do attachment.</a:t>
            </a:r>
          </a:p>
        </p:txBody>
      </p:sp>
      <p:sp>
        <p:nvSpPr>
          <p:cNvPr id="12" name="factor-8-panel">
            <a:extLst xmlns:a="http://schemas.openxmlformats.org/drawingml/2006/main">
              <a:ext uri="{FF2B5EF4-FFF2-40B4-BE49-F238E27FC236}">
                <a16:creationId xmlns:a16="http://schemas.microsoft.com/office/drawing/2014/main" id="{C3A196DE-F12A-451C-8B6A-D9F042A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8-statusbar">
            <a:extLst xmlns:a="http://schemas.openxmlformats.org/drawingml/2006/main">
              <a:ext uri="{FF2B5EF4-FFF2-40B4-BE49-F238E27FC236}">
                <a16:creationId xmlns:a16="http://schemas.microsoft.com/office/drawing/2014/main" id="{7028951B-1A2C-4299-942A-9FFE98E7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8-name">
            <a:extLst xmlns:a="http://schemas.openxmlformats.org/drawingml/2006/main">
              <a:ext uri="{FF2B5EF4-FFF2-40B4-BE49-F238E27FC236}">
                <a16:creationId xmlns:a16="http://schemas.microsoft.com/office/drawing/2014/main" id="{DD1EAFFE-881A-4ACA-9DBA-D5B0D4D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VIII. Concurrency</a:t>
            </a:r>
          </a:p>
        </p:txBody>
      </p:sp>
      <p:sp>
        <p:nvSpPr>
          <p:cNvPr id="15" name="factor-8-badge-mark">
            <a:extLst xmlns:a="http://schemas.openxmlformats.org/drawingml/2006/main">
              <a:ext uri="{FF2B5EF4-FFF2-40B4-BE49-F238E27FC236}">
                <a16:creationId xmlns:a16="http://schemas.microsoft.com/office/drawing/2014/main" id="{2C7D7ABE-E45E-407D-B3E0-4B46EA2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8-badge-label">
            <a:extLst xmlns:a="http://schemas.openxmlformats.org/drawingml/2006/main">
              <a:ext uri="{FF2B5EF4-FFF2-40B4-BE49-F238E27FC236}">
                <a16:creationId xmlns:a16="http://schemas.microsoft.com/office/drawing/2014/main" id="{8A395353-D577-47D0-A7BF-5A2113F6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17" name="factor-8-evidence-label">
            <a:extLst xmlns:a="http://schemas.openxmlformats.org/drawingml/2006/main">
              <a:ext uri="{FF2B5EF4-FFF2-40B4-BE49-F238E27FC236}">
                <a16:creationId xmlns:a16="http://schemas.microsoft.com/office/drawing/2014/main" id="{C4EAA698-4E19-412F-858F-D6EF433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8-evidence">
            <a:extLst xmlns:a="http://schemas.openxmlformats.org/drawingml/2006/main">
              <a:ext uri="{FF2B5EF4-FFF2-40B4-BE49-F238E27FC236}">
                <a16:creationId xmlns:a16="http://schemas.microsoft.com/office/drawing/2014/main" id="{8295022E-DF81-4465-BE69-1B3E958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Gateway, Question Service, RAG, Eureka e HAProxy escalam adicionando processos.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Estado externo torna réplicas intercambiáveis.</a:t>
            </a:r>
          </a:p>
        </p:txBody>
      </p:sp>
      <p:sp>
        <p:nvSpPr>
          <p:cNvPr id="19" name="factor-8-attention-label">
            <a:extLst xmlns:a="http://schemas.openxmlformats.org/drawingml/2006/main">
              <a:ext uri="{FF2B5EF4-FFF2-40B4-BE49-F238E27FC236}">
                <a16:creationId xmlns:a16="http://schemas.microsoft.com/office/drawing/2014/main" id="{4226159C-C12C-4C89-8B7A-570CE19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8-attention">
            <a:extLst xmlns:a="http://schemas.openxmlformats.org/drawingml/2006/main">
              <a:ext uri="{FF2B5EF4-FFF2-40B4-BE49-F238E27FC236}">
                <a16:creationId xmlns:a16="http://schemas.microsoft.com/office/drawing/2014/main" id="{030E6C05-B9FE-4975-B97E-EF1641DA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e Ollama são únicos.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Normalizer e MCP ficam single replica; limites Groq por processo.</a:t>
            </a:r>
          </a:p>
        </p:txBody>
      </p:sp>
      <p:sp>
        <p:nvSpPr>
          <p:cNvPr id="21" name="factor-9-panel">
            <a:extLst xmlns:a="http://schemas.openxmlformats.org/drawingml/2006/main">
              <a:ext uri="{FF2B5EF4-FFF2-40B4-BE49-F238E27FC236}">
                <a16:creationId xmlns:a16="http://schemas.microsoft.com/office/drawing/2014/main" id="{86BE3B9C-28F0-4696-AD96-F9A4835E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9-statusbar">
            <a:extLst xmlns:a="http://schemas.openxmlformats.org/drawingml/2006/main">
              <a:ext uri="{FF2B5EF4-FFF2-40B4-BE49-F238E27FC236}">
                <a16:creationId xmlns:a16="http://schemas.microsoft.com/office/drawing/2014/main" id="{82488A56-1FD5-4846-98BE-0FE7515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9-name">
            <a:extLst xmlns:a="http://schemas.openxmlformats.org/drawingml/2006/main">
              <a:ext uri="{FF2B5EF4-FFF2-40B4-BE49-F238E27FC236}">
                <a16:creationId xmlns:a16="http://schemas.microsoft.com/office/drawing/2014/main" id="{2BBD190F-6302-4C47-BB3E-233BDF9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IX. Disposability</a:t>
            </a:r>
          </a:p>
        </p:txBody>
      </p:sp>
      <p:sp>
        <p:nvSpPr>
          <p:cNvPr id="24" name="factor-9-badge-mark">
            <a:extLst xmlns:a="http://schemas.openxmlformats.org/drawingml/2006/main">
              <a:ext uri="{FF2B5EF4-FFF2-40B4-BE49-F238E27FC236}">
                <a16:creationId xmlns:a16="http://schemas.microsoft.com/office/drawing/2014/main" id="{929542B0-10FD-4DC7-B13E-6863D0B4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9-badge-label">
            <a:extLst xmlns:a="http://schemas.openxmlformats.org/drawingml/2006/main">
              <a:ext uri="{FF2B5EF4-FFF2-40B4-BE49-F238E27FC236}">
                <a16:creationId xmlns:a16="http://schemas.microsoft.com/office/drawing/2014/main" id="{0991CBA4-84B9-4871-949C-F2F3AF95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26" name="factor-9-evidence-label">
            <a:extLst xmlns:a="http://schemas.openxmlformats.org/drawingml/2006/main">
              <a:ext uri="{FF2B5EF4-FFF2-40B4-BE49-F238E27FC236}">
                <a16:creationId xmlns:a16="http://schemas.microsoft.com/office/drawing/2014/main" id="{D36419EC-C461-4272-8461-22FDD066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9-evidence">
            <a:extLst xmlns:a="http://schemas.openxmlformats.org/drawingml/2006/main">
              <a:ext uri="{FF2B5EF4-FFF2-40B4-BE49-F238E27FC236}">
                <a16:creationId xmlns:a16="http://schemas.microsoft.com/office/drawing/2014/main" id="{B354A01D-FFE1-45DB-98BE-B58E2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tem graceful shutdown; Compose define stop grace period, healthchecks e restart bounded.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Ingestão é idempotente por checksum.</a:t>
            </a:r>
          </a:p>
        </p:txBody>
      </p:sp>
      <p:sp>
        <p:nvSpPr>
          <p:cNvPr id="28" name="factor-9-attention-label">
            <a:extLst xmlns:a="http://schemas.openxmlformats.org/drawingml/2006/main">
              <a:ext uri="{FF2B5EF4-FFF2-40B4-BE49-F238E27FC236}">
                <a16:creationId xmlns:a16="http://schemas.microsoft.com/office/drawing/2014/main" id="{CF7EB151-165A-429C-95B7-EA184BAD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9-attention">
            <a:extLst xmlns:a="http://schemas.openxmlformats.org/drawingml/2006/main">
              <a:ext uri="{FF2B5EF4-FFF2-40B4-BE49-F238E27FC236}">
                <a16:creationId xmlns:a16="http://schemas.microsoft.com/office/drawing/2014/main" id="{8E3C2352-8886-4F8A-ABEE-A495561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Ollama pode demorar no cold start.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É custo do backing service de modelo, não dos serviços Java.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C99B07D9-9C71-4A4C-88E4-97EB34F7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application.properties; RagService/.../CorpusIngestionRunner.java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19EE80-B4CC-475E-909D-B542F445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165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92EC39A-2004-4163-88D2-732A441A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X–XII: a operação local é observável, mas ainda não reproduz produção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2A5782-BBA7-473E-9792-8DF14ABB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Imagens e contratos são consistentes; centralização de logs, ambiente produtivo e governança de jobs ficam para a plataforma.</a:t>
            </a:r>
          </a:p>
        </p:txBody>
      </p:sp>
      <p:sp>
        <p:nvSpPr>
          <p:cNvPr id="3" name="factor-10-panel">
            <a:extLst xmlns:a="http://schemas.openxmlformats.org/drawingml/2006/main">
              <a:ext uri="{FF2B5EF4-FFF2-40B4-BE49-F238E27FC236}">
                <a16:creationId xmlns:a16="http://schemas.microsoft.com/office/drawing/2014/main" id="{FF7E2D5D-4708-4C48-9F7F-6AE0923A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10-statusbar">
            <a:extLst xmlns:a="http://schemas.openxmlformats.org/drawingml/2006/main">
              <a:ext uri="{FF2B5EF4-FFF2-40B4-BE49-F238E27FC236}">
                <a16:creationId xmlns:a16="http://schemas.microsoft.com/office/drawing/2014/main" id="{7939487E-E9BB-4A9A-A67F-D69228C6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10-name">
            <a:extLst xmlns:a="http://schemas.openxmlformats.org/drawingml/2006/main">
              <a:ext uri="{FF2B5EF4-FFF2-40B4-BE49-F238E27FC236}">
                <a16:creationId xmlns:a16="http://schemas.microsoft.com/office/drawing/2014/main" id="{EBCCBACC-8FE6-4AEB-997E-02696728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X. Dev/prod parity</a:t>
            </a:r>
          </a:p>
        </p:txBody>
      </p:sp>
      <p:sp>
        <p:nvSpPr>
          <p:cNvPr id="6" name="factor-10-badge-mark">
            <a:extLst xmlns:a="http://schemas.openxmlformats.org/drawingml/2006/main">
              <a:ext uri="{FF2B5EF4-FFF2-40B4-BE49-F238E27FC236}">
                <a16:creationId xmlns:a16="http://schemas.microsoft.com/office/drawing/2014/main" id="{C5E6F8AB-F59A-43B4-8267-FFC2008D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10-badge-label">
            <a:extLst xmlns:a="http://schemas.openxmlformats.org/drawingml/2006/main">
              <a:ext uri="{FF2B5EF4-FFF2-40B4-BE49-F238E27FC236}">
                <a16:creationId xmlns:a16="http://schemas.microsoft.com/office/drawing/2014/main" id="{720EF7C6-8122-44FC-8967-A66DB91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8" name="factor-10-evidence-label">
            <a:extLst xmlns:a="http://schemas.openxmlformats.org/drawingml/2006/main">
              <a:ext uri="{FF2B5EF4-FFF2-40B4-BE49-F238E27FC236}">
                <a16:creationId xmlns:a16="http://schemas.microsoft.com/office/drawing/2014/main" id="{1B73B6FF-C1A0-4CAB-A90F-CA23100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10-evidence">
            <a:extLst xmlns:a="http://schemas.openxmlformats.org/drawingml/2006/main">
              <a:ext uri="{FF2B5EF4-FFF2-40B4-BE49-F238E27FC236}">
                <a16:creationId xmlns:a16="http://schemas.microsoft.com/office/drawing/2014/main" id="{BC19AE4C-FFAA-45DD-9D17-C8A165A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usa as mesmas imagens, protocolos, schema PGVector e contrato de ambiente.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Testes isolam dependências externas com dublês.</a:t>
            </a:r>
          </a:p>
        </p:txBody>
      </p:sp>
      <p:sp>
        <p:nvSpPr>
          <p:cNvPr id="10" name="factor-10-attention-label">
            <a:extLst xmlns:a="http://schemas.openxmlformats.org/drawingml/2006/main">
              <a:ext uri="{FF2B5EF4-FFF2-40B4-BE49-F238E27FC236}">
                <a16:creationId xmlns:a16="http://schemas.microsoft.com/office/drawing/2014/main" id="{B04D8012-1CD2-432A-997B-B228D4BF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10-attention">
            <a:extLst xmlns:a="http://schemas.openxmlformats.org/drawingml/2006/main">
              <a:ext uri="{FF2B5EF4-FFF2-40B4-BE49-F238E27FC236}">
                <a16:creationId xmlns:a16="http://schemas.microsoft.com/office/drawing/2014/main" id="{FD4C3535-7EA7-4E04-8702-EE9415E0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não reproduz capacidade, latência ou cotas de Groq/Ollama/infra real.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Precisa teste em ambiente mais parecido com produção.</a:t>
            </a:r>
          </a:p>
        </p:txBody>
      </p:sp>
      <p:sp>
        <p:nvSpPr>
          <p:cNvPr id="12" name="factor-11-panel">
            <a:extLst xmlns:a="http://schemas.openxmlformats.org/drawingml/2006/main">
              <a:ext uri="{FF2B5EF4-FFF2-40B4-BE49-F238E27FC236}">
                <a16:creationId xmlns:a16="http://schemas.microsoft.com/office/drawing/2014/main" id="{30119E1F-DF8F-41AA-9AE1-8C4660A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11-statusbar">
            <a:extLst xmlns:a="http://schemas.openxmlformats.org/drawingml/2006/main">
              <a:ext uri="{FF2B5EF4-FFF2-40B4-BE49-F238E27FC236}">
                <a16:creationId xmlns:a16="http://schemas.microsoft.com/office/drawing/2014/main" id="{5A59F17A-8C6E-4530-B036-2688B8D4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11-name">
            <a:extLst xmlns:a="http://schemas.openxmlformats.org/drawingml/2006/main">
              <a:ext uri="{FF2B5EF4-FFF2-40B4-BE49-F238E27FC236}">
                <a16:creationId xmlns:a16="http://schemas.microsoft.com/office/drawing/2014/main" id="{68385477-C6B7-48CA-AB9F-032CC157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XI. Logs</a:t>
            </a:r>
          </a:p>
        </p:txBody>
      </p:sp>
      <p:sp>
        <p:nvSpPr>
          <p:cNvPr id="15" name="factor-11-badge-mark">
            <a:extLst xmlns:a="http://schemas.openxmlformats.org/drawingml/2006/main">
              <a:ext uri="{FF2B5EF4-FFF2-40B4-BE49-F238E27FC236}">
                <a16:creationId xmlns:a16="http://schemas.microsoft.com/office/drawing/2014/main" id="{DBF425A6-7829-40CA-895A-9BA6AE7A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11-badge-label">
            <a:extLst xmlns:a="http://schemas.openxmlformats.org/drawingml/2006/main">
              <a:ext uri="{FF2B5EF4-FFF2-40B4-BE49-F238E27FC236}">
                <a16:creationId xmlns:a16="http://schemas.microsoft.com/office/drawing/2014/main" id="{C6895140-EDCB-4EB5-93C0-D604D84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17" name="factor-11-evidence-label">
            <a:extLst xmlns:a="http://schemas.openxmlformats.org/drawingml/2006/main">
              <a:ext uri="{FF2B5EF4-FFF2-40B4-BE49-F238E27FC236}">
                <a16:creationId xmlns:a16="http://schemas.microsoft.com/office/drawing/2014/main" id="{D98493EF-9583-404C-8865-B11D39D4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11-evidence">
            <a:extLst xmlns:a="http://schemas.openxmlformats.org/drawingml/2006/main">
              <a:ext uri="{FF2B5EF4-FFF2-40B4-BE49-F238E27FC236}">
                <a16:creationId xmlns:a16="http://schemas.microsoft.com/office/drawing/2014/main" id="{C8880213-9B22-468A-8150-BC8C522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009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e HAProxy escrevem streams em stdout/stderr.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Padrões incluem aplicação, traceId e spanId; Zipkin e Prometheus complementam observabilidade.</a:t>
            </a:r>
          </a:p>
        </p:txBody>
      </p:sp>
      <p:sp>
        <p:nvSpPr>
          <p:cNvPr id="19" name="factor-11-attention-label">
            <a:extLst xmlns:a="http://schemas.openxmlformats.org/drawingml/2006/main">
              <a:ext uri="{FF2B5EF4-FFF2-40B4-BE49-F238E27FC236}">
                <a16:creationId xmlns:a16="http://schemas.microsoft.com/office/drawing/2014/main" id="{5FA78E5A-4EFB-4288-B63A-E7FAA49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11-attention">
            <a:extLst xmlns:a="http://schemas.openxmlformats.org/drawingml/2006/main">
              <a:ext uri="{FF2B5EF4-FFF2-40B4-BE49-F238E27FC236}">
                <a16:creationId xmlns:a16="http://schemas.microsoft.com/office/drawing/2014/main" id="{6F23AFAC-8C96-4E0A-917A-02468CAB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local não retém logs centralizados.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plataforma deve coletar e reter.</a:t>
            </a:r>
          </a:p>
        </p:txBody>
      </p:sp>
      <p:sp>
        <p:nvSpPr>
          <p:cNvPr id="21" name="factor-12-panel">
            <a:extLst xmlns:a="http://schemas.openxmlformats.org/drawingml/2006/main">
              <a:ext uri="{FF2B5EF4-FFF2-40B4-BE49-F238E27FC236}">
                <a16:creationId xmlns:a16="http://schemas.microsoft.com/office/drawing/2014/main" id="{85CCCBBF-18AE-4211-8D5C-46088823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12-statusbar">
            <a:extLst xmlns:a="http://schemas.openxmlformats.org/drawingml/2006/main">
              <a:ext uri="{FF2B5EF4-FFF2-40B4-BE49-F238E27FC236}">
                <a16:creationId xmlns:a16="http://schemas.microsoft.com/office/drawing/2014/main" id="{661298EB-7172-484A-B809-210B9CE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12-name">
            <a:extLst xmlns:a="http://schemas.openxmlformats.org/drawingml/2006/main">
              <a:ext uri="{FF2B5EF4-FFF2-40B4-BE49-F238E27FC236}">
                <a16:creationId xmlns:a16="http://schemas.microsoft.com/office/drawing/2014/main" id="{B261B988-FC28-42C5-B6DF-EFD6F41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XII. Admin processes</a:t>
            </a:r>
          </a:p>
        </p:txBody>
      </p:sp>
      <p:sp>
        <p:nvSpPr>
          <p:cNvPr id="24" name="factor-12-badge-mark">
            <a:extLst xmlns:a="http://schemas.openxmlformats.org/drawingml/2006/main">
              <a:ext uri="{FF2B5EF4-FFF2-40B4-BE49-F238E27FC236}">
                <a16:creationId xmlns:a16="http://schemas.microsoft.com/office/drawing/2014/main" id="{3EBD6330-C776-4C87-84F8-7D1213C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12-badge-label">
            <a:extLst xmlns:a="http://schemas.openxmlformats.org/drawingml/2006/main">
              <a:ext uri="{FF2B5EF4-FFF2-40B4-BE49-F238E27FC236}">
                <a16:creationId xmlns:a16="http://schemas.microsoft.com/office/drawing/2014/main" id="{25068F81-20C4-4FFF-BCD2-30B74A7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B5FC7"/>
                </a:solidFill>
                <a:latin typeface="Helvetica Neue"/>
                <a:ea typeface="Helvetica Neue"/>
                <a:cs typeface="Helvetica Neue"/>
              </a:defRPr>
            </a:pPr>
            <a:r>
              <a:t>Quase aderente</a:t>
            </a:r>
          </a:p>
        </p:txBody>
      </p:sp>
      <p:sp>
        <p:nvSpPr>
          <p:cNvPr id="26" name="factor-12-evidence-label">
            <a:extLst xmlns:a="http://schemas.openxmlformats.org/drawingml/2006/main">
              <a:ext uri="{FF2B5EF4-FFF2-40B4-BE49-F238E27FC236}">
                <a16:creationId xmlns:a16="http://schemas.microsoft.com/office/drawing/2014/main" id="{0A53B1F8-66A4-4C7F-92B3-C32A192E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12-evidence">
            <a:extLst xmlns:a="http://schemas.openxmlformats.org/drawingml/2006/main">
              <a:ext uri="{FF2B5EF4-FFF2-40B4-BE49-F238E27FC236}">
                <a16:creationId xmlns:a16="http://schemas.microsoft.com/office/drawing/2014/main" id="{DD9913FB-D6CE-4535-98B1-188B39F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rag-ingestion roda a mesma imagem RAG versionada como tarefa one-off.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Execução é idempotente pelo checksum do corpus.</a:t>
            </a:r>
          </a:p>
        </p:txBody>
      </p:sp>
      <p:sp>
        <p:nvSpPr>
          <p:cNvPr id="28" name="factor-12-attention-label">
            <a:extLst xmlns:a="http://schemas.openxmlformats.org/drawingml/2006/main">
              <a:ext uri="{FF2B5EF4-FFF2-40B4-BE49-F238E27FC236}">
                <a16:creationId xmlns:a16="http://schemas.microsoft.com/office/drawing/2014/main" id="{49C62B22-DE36-437F-AFA6-F4C0B1E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12-attention">
            <a:extLst xmlns:a="http://schemas.openxmlformats.org/drawingml/2006/main">
              <a:ext uri="{FF2B5EF4-FFF2-40B4-BE49-F238E27FC236}">
                <a16:creationId xmlns:a16="http://schemas.microsoft.com/office/drawing/2014/main" id="{F89E5B09-7AE5-4408-88EA-40A4A597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Reset de vetores usa imagem PostgreSQL; pull de modelo usa Ollama.</a:t>
            </a:r>
          </a:p>
          <a:p xmlns:a="http://schemas.openxmlformats.org/drawingml/2006/main">
            <a:pPr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Isso evita a aplicação destruir o próprio schema vivo.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D1CEF04E-8139-4F9A-9239-8D96B85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RagService/.../CorpusIngestionRunner.java; infrastructure/*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C52773-C326-49B8-89A3-B16B9472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7386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124D063-90C6-4B54-BF54-508FE52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496"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Próximo salto: transformar o Compose em um caminho de release operacional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78D851-21D7-4E79-B6BA-3B09DD45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código já sustenta processos substituíveis; agora a plataforma precisa garantir promoção, paridade e operação contínua.</a:t>
            </a:r>
          </a:p>
        </p:txBody>
      </p:sp>
      <p:sp>
        <p:nvSpPr>
          <p:cNvPr id="3" name="close-left-square">
            <a:extLst xmlns:a="http://schemas.openxmlformats.org/drawingml/2006/main">
              <a:ext uri="{FF2B5EF4-FFF2-40B4-BE49-F238E27FC236}">
                <a16:creationId xmlns:a16="http://schemas.microsoft.com/office/drawing/2014/main" id="{11F5E20E-0A51-4E88-8AA0-93F6BD1D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2900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mid-square">
            <a:extLst xmlns:a="http://schemas.openxmlformats.org/drawingml/2006/main">
              <a:ext uri="{FF2B5EF4-FFF2-40B4-BE49-F238E27FC236}">
                <a16:creationId xmlns:a16="http://schemas.microsoft.com/office/drawing/2014/main" id="{B1264AFF-F7D9-4139-94EC-6D1ACE04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3143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right-square">
            <a:extLst xmlns:a="http://schemas.openxmlformats.org/drawingml/2006/main">
              <a:ext uri="{FF2B5EF4-FFF2-40B4-BE49-F238E27FC236}">
                <a16:creationId xmlns:a16="http://schemas.microsoft.com/office/drawing/2014/main" id="{DC109604-9059-4969-9039-CABF0AF6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1-title">
            <a:extLst xmlns:a="http://schemas.openxmlformats.org/drawingml/2006/main">
              <a:ext uri="{FF2B5EF4-FFF2-40B4-BE49-F238E27FC236}">
                <a16:creationId xmlns:a16="http://schemas.microsoft.com/office/drawing/2014/main" id="{0A65C3AC-2D76-4923-AAB7-349ABBF9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3143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Formalizar release</a:t>
            </a:r>
          </a:p>
        </p:txBody>
      </p:sp>
      <p:sp>
        <p:nvSpPr>
          <p:cNvPr id="7" name="close-1-body">
            <a:extLst xmlns:a="http://schemas.openxmlformats.org/drawingml/2006/main">
              <a:ext uri="{FF2B5EF4-FFF2-40B4-BE49-F238E27FC236}">
                <a16:creationId xmlns:a16="http://schemas.microsoft.com/office/drawing/2014/main" id="{AEC92850-E6D6-4974-87C6-C983F0A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72025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Publicar imagens em registry.</a:t>
            </a:r>
          </a:p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Usar tags imutáveis, manifesto de release e execução sempre sem rebuild.</a:t>
            </a:r>
          </a:p>
        </p:txBody>
      </p:sp>
      <p:sp>
        <p:nvSpPr>
          <p:cNvPr id="8" name="close-2-title">
            <a:extLst xmlns:a="http://schemas.openxmlformats.org/drawingml/2006/main">
              <a:ext uri="{FF2B5EF4-FFF2-40B4-BE49-F238E27FC236}">
                <a16:creationId xmlns:a16="http://schemas.microsoft.com/office/drawing/2014/main" id="{031C1397-52D8-4E9B-AAEB-B42ECB7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71950"/>
            <a:ext cx="3143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Aproximar produção</a:t>
            </a:r>
          </a:p>
        </p:txBody>
      </p:sp>
      <p:sp>
        <p:nvSpPr>
          <p:cNvPr id="9" name="close-2-body">
            <a:extLst xmlns:a="http://schemas.openxmlformats.org/drawingml/2006/main">
              <a:ext uri="{FF2B5EF4-FFF2-40B4-BE49-F238E27FC236}">
                <a16:creationId xmlns:a16="http://schemas.microsoft.com/office/drawing/2014/main" id="{46F61666-6E4A-4658-BD7E-B47CC747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72025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Testar com Postgres/Ollama equivalentes ao destino real.</a:t>
            </a:r>
          </a:p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Escalar Normalizer e MCP se a carga pedir.</a:t>
            </a:r>
          </a:p>
        </p:txBody>
      </p:sp>
      <p:sp>
        <p:nvSpPr>
          <p:cNvPr id="10" name="close-3-title">
            <a:extLst xmlns:a="http://schemas.openxmlformats.org/drawingml/2006/main">
              <a:ext uri="{FF2B5EF4-FFF2-40B4-BE49-F238E27FC236}">
                <a16:creationId xmlns:a16="http://schemas.microsoft.com/office/drawing/2014/main" id="{441A45EC-13CC-429A-92E2-D4239529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43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Fechar a operação</a:t>
            </a:r>
          </a:p>
        </p:txBody>
      </p:sp>
      <p:sp>
        <p:nvSpPr>
          <p:cNvPr id="11" name="close-3-body">
            <a:extLst xmlns:a="http://schemas.openxmlformats.org/drawingml/2006/main">
              <a:ext uri="{FF2B5EF4-FFF2-40B4-BE49-F238E27FC236}">
                <a16:creationId xmlns:a16="http://schemas.microsoft.com/office/drawing/2014/main" id="{CAEF9409-75B7-4B73-873F-D958D4F1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72025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Enviar logs para armazenamento centralizado.</a:t>
            </a:r>
          </a:p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Revalidar a matriz ao adicionar serviço, volume ou processo admin.</a:t>
            </a:r>
          </a:p>
        </p:txBody>
      </p:sp>
      <p:sp>
        <p:nvSpPr>
          <p:cNvPr id="12" name="close-rule">
            <a:extLst xmlns:a="http://schemas.openxmlformats.org/drawingml/2006/main">
              <a:ext uri="{FF2B5EF4-FFF2-40B4-BE49-F238E27FC236}">
                <a16:creationId xmlns:a16="http://schemas.microsoft.com/office/drawing/2014/main" id="{B2E2BF32-4127-416E-A76A-F80339E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24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final">
            <a:extLst xmlns:a="http://schemas.openxmlformats.org/drawingml/2006/main">
              <a:ext uri="{FF2B5EF4-FFF2-40B4-BE49-F238E27FC236}">
                <a16:creationId xmlns:a16="http://schemas.microsoft.com/office/drawing/2014/main" id="{A64FC9D2-2944-4006-9376-AB97B57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57900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Síntese: o projeto está pronto para evoluir de Compose acadêmico para uma plataforma de entrega reproduzível.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1DC273F5-1F81-4454-A17D-853ADE6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6747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.env.example; pom.xml; Dockerfiles; config-repository/config/*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567447-EBB8-4CC6-9379-C57E0A8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453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2026-07-13T17:31:23.6410000Z</dcterms:created>
  <dcterms:modified xsi:type="dcterms:W3CDTF">2026-07-13T17:31:23.6410000Z</dcterms:modified>
</coreProperties>
</file>